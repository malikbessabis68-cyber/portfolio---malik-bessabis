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678" y="6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DEE657-6452-467E-9F2E-28ADFB70CE7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CE6DB50-7BA4-4182-AE65-BE01E370D91A}">
      <dgm:prSet/>
      <dgm:spPr/>
      <dgm:t>
        <a:bodyPr/>
        <a:lstStyle/>
        <a:p>
          <a:r>
            <a:rPr lang="fr-FR"/>
            <a:t>Le World Happiness Report évalue le bonheur mondial à travers divers critères socio-économiques et sociétaux.</a:t>
          </a:r>
          <a:endParaRPr lang="en-US"/>
        </a:p>
      </dgm:t>
    </dgm:pt>
    <dgm:pt modelId="{B3247436-1C51-405A-907A-F2DC548885FF}" type="parTrans" cxnId="{4B295A7F-5B8B-4F6D-9FA2-83AC9DE8D1FF}">
      <dgm:prSet/>
      <dgm:spPr/>
      <dgm:t>
        <a:bodyPr/>
        <a:lstStyle/>
        <a:p>
          <a:endParaRPr lang="en-US"/>
        </a:p>
      </dgm:t>
    </dgm:pt>
    <dgm:pt modelId="{BC3D9A1D-A9D6-4620-B07A-2C799BF76276}" type="sibTrans" cxnId="{4B295A7F-5B8B-4F6D-9FA2-83AC9DE8D1FF}">
      <dgm:prSet/>
      <dgm:spPr/>
      <dgm:t>
        <a:bodyPr/>
        <a:lstStyle/>
        <a:p>
          <a:endParaRPr lang="en-US"/>
        </a:p>
      </dgm:t>
    </dgm:pt>
    <dgm:pt modelId="{CF249C2D-C1FA-449C-97CB-6B23E0367100}">
      <dgm:prSet/>
      <dgm:spPr/>
      <dgm:t>
        <a:bodyPr/>
        <a:lstStyle/>
        <a:p>
          <a:r>
            <a:rPr lang="fr-FR" dirty="0"/>
            <a:t>Il est basé sur des enquêtes comme Gallup World </a:t>
          </a:r>
          <a:r>
            <a:rPr lang="fr-FR" dirty="0" err="1"/>
            <a:t>Poll</a:t>
          </a:r>
          <a:r>
            <a:rPr lang="fr-FR" dirty="0"/>
            <a:t> et l'échelle de </a:t>
          </a:r>
          <a:r>
            <a:rPr lang="fr-FR" dirty="0" err="1"/>
            <a:t>Cantril</a:t>
          </a:r>
          <a:r>
            <a:rPr lang="fr-FR" dirty="0"/>
            <a:t>.</a:t>
          </a:r>
          <a:endParaRPr lang="en-US" dirty="0"/>
        </a:p>
      </dgm:t>
    </dgm:pt>
    <dgm:pt modelId="{30A87CC5-9760-4288-99F5-9D90275CD402}" type="parTrans" cxnId="{95211ED6-B63D-4D97-8C3E-556AD3E8ED57}">
      <dgm:prSet/>
      <dgm:spPr/>
      <dgm:t>
        <a:bodyPr/>
        <a:lstStyle/>
        <a:p>
          <a:endParaRPr lang="en-US"/>
        </a:p>
      </dgm:t>
    </dgm:pt>
    <dgm:pt modelId="{7400C879-1C03-4888-A841-87A05FD7FAAB}" type="sibTrans" cxnId="{95211ED6-B63D-4D97-8C3E-556AD3E8ED57}">
      <dgm:prSet/>
      <dgm:spPr/>
      <dgm:t>
        <a:bodyPr/>
        <a:lstStyle/>
        <a:p>
          <a:endParaRPr lang="en-US"/>
        </a:p>
      </dgm:t>
    </dgm:pt>
    <dgm:pt modelId="{76CDC6EF-8059-4CB3-9F89-2554E605DF2C}">
      <dgm:prSet/>
      <dgm:spPr/>
      <dgm:t>
        <a:bodyPr/>
        <a:lstStyle/>
        <a:p>
          <a:r>
            <a:rPr lang="fr-FR" dirty="0"/>
            <a:t>Son objectif est de fournir des insights pour améliorer les politiques publiques et le bien-être des populations.</a:t>
          </a:r>
          <a:endParaRPr lang="en-US" dirty="0"/>
        </a:p>
      </dgm:t>
    </dgm:pt>
    <dgm:pt modelId="{0A5C39CB-CB23-40E1-9720-7552C144CF8F}" type="parTrans" cxnId="{F049CC13-6B44-452F-B72E-066359AE485C}">
      <dgm:prSet/>
      <dgm:spPr/>
      <dgm:t>
        <a:bodyPr/>
        <a:lstStyle/>
        <a:p>
          <a:endParaRPr lang="en-US"/>
        </a:p>
      </dgm:t>
    </dgm:pt>
    <dgm:pt modelId="{CB6C5DB3-FAB7-4DB8-860D-525F0854BE5C}" type="sibTrans" cxnId="{F049CC13-6B44-452F-B72E-066359AE485C}">
      <dgm:prSet/>
      <dgm:spPr/>
      <dgm:t>
        <a:bodyPr/>
        <a:lstStyle/>
        <a:p>
          <a:endParaRPr lang="en-US"/>
        </a:p>
      </dgm:t>
    </dgm:pt>
    <dgm:pt modelId="{BB71029E-8A96-4A2C-9E3A-82226AD6277D}">
      <dgm:prSet/>
      <dgm:spPr/>
      <dgm:t>
        <a:bodyPr/>
        <a:lstStyle/>
        <a:p>
          <a:r>
            <a:rPr lang="fr-FR" dirty="0"/>
            <a:t>Ce rapport est essentiel pour comprendre les facteurs influençant le bien-être des populations.</a:t>
          </a:r>
          <a:endParaRPr lang="en-US" dirty="0"/>
        </a:p>
      </dgm:t>
    </dgm:pt>
    <dgm:pt modelId="{75B48040-6B12-4BD0-BAC4-F68D58E14617}" type="parTrans" cxnId="{E56545F1-65BF-412D-A516-2687A6ECA924}">
      <dgm:prSet/>
      <dgm:spPr/>
      <dgm:t>
        <a:bodyPr/>
        <a:lstStyle/>
        <a:p>
          <a:endParaRPr lang="en-US"/>
        </a:p>
      </dgm:t>
    </dgm:pt>
    <dgm:pt modelId="{59699288-5F9D-4C39-9F6C-5C8D713CBBAC}" type="sibTrans" cxnId="{E56545F1-65BF-412D-A516-2687A6ECA924}">
      <dgm:prSet/>
      <dgm:spPr/>
      <dgm:t>
        <a:bodyPr/>
        <a:lstStyle/>
        <a:p>
          <a:endParaRPr lang="en-US"/>
        </a:p>
      </dgm:t>
    </dgm:pt>
    <dgm:pt modelId="{A9F71E57-3C30-4DF7-8395-AF99C24F9640}" type="pres">
      <dgm:prSet presAssocID="{C9DEE657-6452-467E-9F2E-28ADFB70CE7E}" presName="outerComposite" presStyleCnt="0">
        <dgm:presLayoutVars>
          <dgm:chMax val="5"/>
          <dgm:dir/>
          <dgm:resizeHandles val="exact"/>
        </dgm:presLayoutVars>
      </dgm:prSet>
      <dgm:spPr/>
    </dgm:pt>
    <dgm:pt modelId="{8F925F7A-3583-4250-927F-BE675162A7E6}" type="pres">
      <dgm:prSet presAssocID="{C9DEE657-6452-467E-9F2E-28ADFB70CE7E}" presName="dummyMaxCanvas" presStyleCnt="0">
        <dgm:presLayoutVars/>
      </dgm:prSet>
      <dgm:spPr/>
    </dgm:pt>
    <dgm:pt modelId="{DAAA80FE-D35F-4B42-9FE1-3D072F7EAA41}" type="pres">
      <dgm:prSet presAssocID="{C9DEE657-6452-467E-9F2E-28ADFB70CE7E}" presName="FourNodes_1" presStyleLbl="node1" presStyleIdx="0" presStyleCnt="4">
        <dgm:presLayoutVars>
          <dgm:bulletEnabled val="1"/>
        </dgm:presLayoutVars>
      </dgm:prSet>
      <dgm:spPr/>
    </dgm:pt>
    <dgm:pt modelId="{B7AEC2BE-0638-4F2B-8707-02FA595D9ADD}" type="pres">
      <dgm:prSet presAssocID="{C9DEE657-6452-467E-9F2E-28ADFB70CE7E}" presName="FourNodes_2" presStyleLbl="node1" presStyleIdx="1" presStyleCnt="4">
        <dgm:presLayoutVars>
          <dgm:bulletEnabled val="1"/>
        </dgm:presLayoutVars>
      </dgm:prSet>
      <dgm:spPr/>
    </dgm:pt>
    <dgm:pt modelId="{EFA09DBA-9817-48B6-B06B-480E2F2A1192}" type="pres">
      <dgm:prSet presAssocID="{C9DEE657-6452-467E-9F2E-28ADFB70CE7E}" presName="FourNodes_3" presStyleLbl="node1" presStyleIdx="2" presStyleCnt="4">
        <dgm:presLayoutVars>
          <dgm:bulletEnabled val="1"/>
        </dgm:presLayoutVars>
      </dgm:prSet>
      <dgm:spPr/>
    </dgm:pt>
    <dgm:pt modelId="{C4EAFEDD-9CD5-4AA8-B29B-C22E82A41DDA}" type="pres">
      <dgm:prSet presAssocID="{C9DEE657-6452-467E-9F2E-28ADFB70CE7E}" presName="FourNodes_4" presStyleLbl="node1" presStyleIdx="3" presStyleCnt="4">
        <dgm:presLayoutVars>
          <dgm:bulletEnabled val="1"/>
        </dgm:presLayoutVars>
      </dgm:prSet>
      <dgm:spPr/>
    </dgm:pt>
    <dgm:pt modelId="{94DF5199-A92C-47D9-8823-ACC11CBAF61D}" type="pres">
      <dgm:prSet presAssocID="{C9DEE657-6452-467E-9F2E-28ADFB70CE7E}" presName="FourConn_1-2" presStyleLbl="fgAccFollowNode1" presStyleIdx="0" presStyleCnt="3">
        <dgm:presLayoutVars>
          <dgm:bulletEnabled val="1"/>
        </dgm:presLayoutVars>
      </dgm:prSet>
      <dgm:spPr/>
    </dgm:pt>
    <dgm:pt modelId="{BC28EB01-2F24-4536-AE74-9084231DD9D9}" type="pres">
      <dgm:prSet presAssocID="{C9DEE657-6452-467E-9F2E-28ADFB70CE7E}" presName="FourConn_2-3" presStyleLbl="fgAccFollowNode1" presStyleIdx="1" presStyleCnt="3">
        <dgm:presLayoutVars>
          <dgm:bulletEnabled val="1"/>
        </dgm:presLayoutVars>
      </dgm:prSet>
      <dgm:spPr/>
    </dgm:pt>
    <dgm:pt modelId="{D8E87554-3AA3-431F-B1F5-320215234614}" type="pres">
      <dgm:prSet presAssocID="{C9DEE657-6452-467E-9F2E-28ADFB70CE7E}" presName="FourConn_3-4" presStyleLbl="fgAccFollowNode1" presStyleIdx="2" presStyleCnt="3">
        <dgm:presLayoutVars>
          <dgm:bulletEnabled val="1"/>
        </dgm:presLayoutVars>
      </dgm:prSet>
      <dgm:spPr/>
    </dgm:pt>
    <dgm:pt modelId="{926DD542-8F3A-49A4-9033-78E03A63F31D}" type="pres">
      <dgm:prSet presAssocID="{C9DEE657-6452-467E-9F2E-28ADFB70CE7E}" presName="FourNodes_1_text" presStyleLbl="node1" presStyleIdx="3" presStyleCnt="4">
        <dgm:presLayoutVars>
          <dgm:bulletEnabled val="1"/>
        </dgm:presLayoutVars>
      </dgm:prSet>
      <dgm:spPr/>
    </dgm:pt>
    <dgm:pt modelId="{459A269E-AD61-4E41-991D-7892AA94FCB6}" type="pres">
      <dgm:prSet presAssocID="{C9DEE657-6452-467E-9F2E-28ADFB70CE7E}" presName="FourNodes_2_text" presStyleLbl="node1" presStyleIdx="3" presStyleCnt="4">
        <dgm:presLayoutVars>
          <dgm:bulletEnabled val="1"/>
        </dgm:presLayoutVars>
      </dgm:prSet>
      <dgm:spPr/>
    </dgm:pt>
    <dgm:pt modelId="{E76B1088-0C3A-411E-8467-B0334E795DC1}" type="pres">
      <dgm:prSet presAssocID="{C9DEE657-6452-467E-9F2E-28ADFB70CE7E}" presName="FourNodes_3_text" presStyleLbl="node1" presStyleIdx="3" presStyleCnt="4">
        <dgm:presLayoutVars>
          <dgm:bulletEnabled val="1"/>
        </dgm:presLayoutVars>
      </dgm:prSet>
      <dgm:spPr/>
    </dgm:pt>
    <dgm:pt modelId="{9F97C3C8-4CA9-4F72-9A9B-B329DF21C968}" type="pres">
      <dgm:prSet presAssocID="{C9DEE657-6452-467E-9F2E-28ADFB70CE7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A25A408-78DF-43C4-92A5-DEF3C441B9DA}" type="presOf" srcId="{7CE6DB50-7BA4-4182-AE65-BE01E370D91A}" destId="{DAAA80FE-D35F-4B42-9FE1-3D072F7EAA41}" srcOrd="0" destOrd="0" presId="urn:microsoft.com/office/officeart/2005/8/layout/vProcess5"/>
    <dgm:cxn modelId="{F049CC13-6B44-452F-B72E-066359AE485C}" srcId="{C9DEE657-6452-467E-9F2E-28ADFB70CE7E}" destId="{76CDC6EF-8059-4CB3-9F89-2554E605DF2C}" srcOrd="2" destOrd="0" parTransId="{0A5C39CB-CB23-40E1-9720-7552C144CF8F}" sibTransId="{CB6C5DB3-FAB7-4DB8-860D-525F0854BE5C}"/>
    <dgm:cxn modelId="{FA643F23-E4B2-4636-AEDA-78DBC6881014}" type="presOf" srcId="{7CE6DB50-7BA4-4182-AE65-BE01E370D91A}" destId="{926DD542-8F3A-49A4-9033-78E03A63F31D}" srcOrd="1" destOrd="0" presId="urn:microsoft.com/office/officeart/2005/8/layout/vProcess5"/>
    <dgm:cxn modelId="{CEFE7D35-8F8C-4B0E-9861-EF2CA28CB84A}" type="presOf" srcId="{76CDC6EF-8059-4CB3-9F89-2554E605DF2C}" destId="{E76B1088-0C3A-411E-8467-B0334E795DC1}" srcOrd="1" destOrd="0" presId="urn:microsoft.com/office/officeart/2005/8/layout/vProcess5"/>
    <dgm:cxn modelId="{39236739-3272-4420-9661-FD7063EECE00}" type="presOf" srcId="{C9DEE657-6452-467E-9F2E-28ADFB70CE7E}" destId="{A9F71E57-3C30-4DF7-8395-AF99C24F9640}" srcOrd="0" destOrd="0" presId="urn:microsoft.com/office/officeart/2005/8/layout/vProcess5"/>
    <dgm:cxn modelId="{8DF6604A-646B-4E24-AC36-4452FC8C7450}" type="presOf" srcId="{CF249C2D-C1FA-449C-97CB-6B23E0367100}" destId="{B7AEC2BE-0638-4F2B-8707-02FA595D9ADD}" srcOrd="0" destOrd="0" presId="urn:microsoft.com/office/officeart/2005/8/layout/vProcess5"/>
    <dgm:cxn modelId="{4B295A7F-5B8B-4F6D-9FA2-83AC9DE8D1FF}" srcId="{C9DEE657-6452-467E-9F2E-28ADFB70CE7E}" destId="{7CE6DB50-7BA4-4182-AE65-BE01E370D91A}" srcOrd="0" destOrd="0" parTransId="{B3247436-1C51-405A-907A-F2DC548885FF}" sibTransId="{BC3D9A1D-A9D6-4620-B07A-2C799BF76276}"/>
    <dgm:cxn modelId="{782F9E90-26A1-474B-B5CA-1F9A1FEB938B}" type="presOf" srcId="{BC3D9A1D-A9D6-4620-B07A-2C799BF76276}" destId="{94DF5199-A92C-47D9-8823-ACC11CBAF61D}" srcOrd="0" destOrd="0" presId="urn:microsoft.com/office/officeart/2005/8/layout/vProcess5"/>
    <dgm:cxn modelId="{2EC52DB4-E8E2-426B-8D03-26EEA3991850}" type="presOf" srcId="{BB71029E-8A96-4A2C-9E3A-82226AD6277D}" destId="{9F97C3C8-4CA9-4F72-9A9B-B329DF21C968}" srcOrd="1" destOrd="0" presId="urn:microsoft.com/office/officeart/2005/8/layout/vProcess5"/>
    <dgm:cxn modelId="{95211ED6-B63D-4D97-8C3E-556AD3E8ED57}" srcId="{C9DEE657-6452-467E-9F2E-28ADFB70CE7E}" destId="{CF249C2D-C1FA-449C-97CB-6B23E0367100}" srcOrd="1" destOrd="0" parTransId="{30A87CC5-9760-4288-99F5-9D90275CD402}" sibTransId="{7400C879-1C03-4888-A841-87A05FD7FAAB}"/>
    <dgm:cxn modelId="{F85F72DB-5C38-41BE-8AFA-DEFB63509FE7}" type="presOf" srcId="{7400C879-1C03-4888-A841-87A05FD7FAAB}" destId="{BC28EB01-2F24-4536-AE74-9084231DD9D9}" srcOrd="0" destOrd="0" presId="urn:microsoft.com/office/officeart/2005/8/layout/vProcess5"/>
    <dgm:cxn modelId="{0A8AC7E8-2547-42D9-A9F7-1F0AD7C111E7}" type="presOf" srcId="{BB71029E-8A96-4A2C-9E3A-82226AD6277D}" destId="{C4EAFEDD-9CD5-4AA8-B29B-C22E82A41DDA}" srcOrd="0" destOrd="0" presId="urn:microsoft.com/office/officeart/2005/8/layout/vProcess5"/>
    <dgm:cxn modelId="{E2118CEC-83A4-4330-8ABA-AD9B044E8FC4}" type="presOf" srcId="{CF249C2D-C1FA-449C-97CB-6B23E0367100}" destId="{459A269E-AD61-4E41-991D-7892AA94FCB6}" srcOrd="1" destOrd="0" presId="urn:microsoft.com/office/officeart/2005/8/layout/vProcess5"/>
    <dgm:cxn modelId="{E56545F1-65BF-412D-A516-2687A6ECA924}" srcId="{C9DEE657-6452-467E-9F2E-28ADFB70CE7E}" destId="{BB71029E-8A96-4A2C-9E3A-82226AD6277D}" srcOrd="3" destOrd="0" parTransId="{75B48040-6B12-4BD0-BAC4-F68D58E14617}" sibTransId="{59699288-5F9D-4C39-9F6C-5C8D713CBBAC}"/>
    <dgm:cxn modelId="{93C933F7-AF7A-45A9-B382-37C8A8DA15BC}" type="presOf" srcId="{CB6C5DB3-FAB7-4DB8-860D-525F0854BE5C}" destId="{D8E87554-3AA3-431F-B1F5-320215234614}" srcOrd="0" destOrd="0" presId="urn:microsoft.com/office/officeart/2005/8/layout/vProcess5"/>
    <dgm:cxn modelId="{9CB3CFFF-4D98-4678-A9E7-E87F0DF6A7B4}" type="presOf" srcId="{76CDC6EF-8059-4CB3-9F89-2554E605DF2C}" destId="{EFA09DBA-9817-48B6-B06B-480E2F2A1192}" srcOrd="0" destOrd="0" presId="urn:microsoft.com/office/officeart/2005/8/layout/vProcess5"/>
    <dgm:cxn modelId="{0E09D7CA-FCE4-4ABA-A063-D76CAB705639}" type="presParOf" srcId="{A9F71E57-3C30-4DF7-8395-AF99C24F9640}" destId="{8F925F7A-3583-4250-927F-BE675162A7E6}" srcOrd="0" destOrd="0" presId="urn:microsoft.com/office/officeart/2005/8/layout/vProcess5"/>
    <dgm:cxn modelId="{29BA92E1-3294-4765-8852-4BA1B9872576}" type="presParOf" srcId="{A9F71E57-3C30-4DF7-8395-AF99C24F9640}" destId="{DAAA80FE-D35F-4B42-9FE1-3D072F7EAA41}" srcOrd="1" destOrd="0" presId="urn:microsoft.com/office/officeart/2005/8/layout/vProcess5"/>
    <dgm:cxn modelId="{B879E592-B0C5-40A6-A200-440E9FC10504}" type="presParOf" srcId="{A9F71E57-3C30-4DF7-8395-AF99C24F9640}" destId="{B7AEC2BE-0638-4F2B-8707-02FA595D9ADD}" srcOrd="2" destOrd="0" presId="urn:microsoft.com/office/officeart/2005/8/layout/vProcess5"/>
    <dgm:cxn modelId="{16F564D9-EF23-409F-A90C-23ACBCE2950F}" type="presParOf" srcId="{A9F71E57-3C30-4DF7-8395-AF99C24F9640}" destId="{EFA09DBA-9817-48B6-B06B-480E2F2A1192}" srcOrd="3" destOrd="0" presId="urn:microsoft.com/office/officeart/2005/8/layout/vProcess5"/>
    <dgm:cxn modelId="{71AC1BAE-A579-418E-80C3-35238449C177}" type="presParOf" srcId="{A9F71E57-3C30-4DF7-8395-AF99C24F9640}" destId="{C4EAFEDD-9CD5-4AA8-B29B-C22E82A41DDA}" srcOrd="4" destOrd="0" presId="urn:microsoft.com/office/officeart/2005/8/layout/vProcess5"/>
    <dgm:cxn modelId="{372321FD-2871-4B20-9067-768254715D57}" type="presParOf" srcId="{A9F71E57-3C30-4DF7-8395-AF99C24F9640}" destId="{94DF5199-A92C-47D9-8823-ACC11CBAF61D}" srcOrd="5" destOrd="0" presId="urn:microsoft.com/office/officeart/2005/8/layout/vProcess5"/>
    <dgm:cxn modelId="{017BA89A-2C06-4CDD-B5DB-AAAEABC2A0D6}" type="presParOf" srcId="{A9F71E57-3C30-4DF7-8395-AF99C24F9640}" destId="{BC28EB01-2F24-4536-AE74-9084231DD9D9}" srcOrd="6" destOrd="0" presId="urn:microsoft.com/office/officeart/2005/8/layout/vProcess5"/>
    <dgm:cxn modelId="{1F4FB45E-F37B-4528-9FAF-38FA1FF7FE20}" type="presParOf" srcId="{A9F71E57-3C30-4DF7-8395-AF99C24F9640}" destId="{D8E87554-3AA3-431F-B1F5-320215234614}" srcOrd="7" destOrd="0" presId="urn:microsoft.com/office/officeart/2005/8/layout/vProcess5"/>
    <dgm:cxn modelId="{96A4A6B3-19C3-498C-9618-A5A66D8D4C3C}" type="presParOf" srcId="{A9F71E57-3C30-4DF7-8395-AF99C24F9640}" destId="{926DD542-8F3A-49A4-9033-78E03A63F31D}" srcOrd="8" destOrd="0" presId="urn:microsoft.com/office/officeart/2005/8/layout/vProcess5"/>
    <dgm:cxn modelId="{3B928D19-A923-4362-8508-075F8DEFF781}" type="presParOf" srcId="{A9F71E57-3C30-4DF7-8395-AF99C24F9640}" destId="{459A269E-AD61-4E41-991D-7892AA94FCB6}" srcOrd="9" destOrd="0" presId="urn:microsoft.com/office/officeart/2005/8/layout/vProcess5"/>
    <dgm:cxn modelId="{0F24D72D-1A8F-486E-AD40-A124131AD172}" type="presParOf" srcId="{A9F71E57-3C30-4DF7-8395-AF99C24F9640}" destId="{E76B1088-0C3A-411E-8467-B0334E795DC1}" srcOrd="10" destOrd="0" presId="urn:microsoft.com/office/officeart/2005/8/layout/vProcess5"/>
    <dgm:cxn modelId="{9233DB20-034D-4B46-8F60-BB3D54E3A9E3}" type="presParOf" srcId="{A9F71E57-3C30-4DF7-8395-AF99C24F9640}" destId="{9F97C3C8-4CA9-4F72-9A9B-B329DF21C96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BA6D04-907C-4277-8E59-268D8A20C42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4834519-ADD9-4EA5-B703-7D5867321E9E}">
      <dgm:prSet/>
      <dgm:spPr/>
      <dgm:t>
        <a:bodyPr/>
        <a:lstStyle/>
        <a:p>
          <a:r>
            <a:rPr lang="fr-FR" b="1"/>
            <a:t>Happiness Score</a:t>
          </a:r>
          <a:r>
            <a:rPr lang="fr-FR"/>
            <a:t> : Mesure du bien-être subjectif sur une échelle de 0 à 10, reflétant la satisfaction de vie.</a:t>
          </a:r>
          <a:endParaRPr lang="en-US"/>
        </a:p>
      </dgm:t>
    </dgm:pt>
    <dgm:pt modelId="{6825CE9F-E552-48FA-8BB5-67B438DACFEB}" type="parTrans" cxnId="{71FAED8B-2AC0-403C-B6BE-E044BB356210}">
      <dgm:prSet/>
      <dgm:spPr/>
      <dgm:t>
        <a:bodyPr/>
        <a:lstStyle/>
        <a:p>
          <a:endParaRPr lang="en-US"/>
        </a:p>
      </dgm:t>
    </dgm:pt>
    <dgm:pt modelId="{90DAC914-2927-46F7-989C-867115727189}" type="sibTrans" cxnId="{71FAED8B-2AC0-403C-B6BE-E044BB356210}">
      <dgm:prSet/>
      <dgm:spPr/>
      <dgm:t>
        <a:bodyPr/>
        <a:lstStyle/>
        <a:p>
          <a:endParaRPr lang="en-US"/>
        </a:p>
      </dgm:t>
    </dgm:pt>
    <dgm:pt modelId="{10C3CDF0-E3F3-4E21-951A-3D6A093BF0CB}">
      <dgm:prSet/>
      <dgm:spPr/>
      <dgm:t>
        <a:bodyPr/>
        <a:lstStyle/>
        <a:p>
          <a:r>
            <a:rPr lang="fr-FR" b="1"/>
            <a:t>PIB par habitant</a:t>
          </a:r>
          <a:r>
            <a:rPr lang="fr-FR"/>
            <a:t> : Indicateur économique mesurant la richesse moyenne par personne, influençant le niveau de vie.</a:t>
          </a:r>
          <a:endParaRPr lang="en-US"/>
        </a:p>
      </dgm:t>
    </dgm:pt>
    <dgm:pt modelId="{FA563D80-E753-4EB3-8FA9-21A2E5802990}" type="parTrans" cxnId="{E6A74B21-B35F-4502-817D-E336AABA9C07}">
      <dgm:prSet/>
      <dgm:spPr/>
      <dgm:t>
        <a:bodyPr/>
        <a:lstStyle/>
        <a:p>
          <a:endParaRPr lang="en-US"/>
        </a:p>
      </dgm:t>
    </dgm:pt>
    <dgm:pt modelId="{32C97FE4-5805-461A-8A9E-C65AB65B5588}" type="sibTrans" cxnId="{E6A74B21-B35F-4502-817D-E336AABA9C07}">
      <dgm:prSet/>
      <dgm:spPr/>
      <dgm:t>
        <a:bodyPr/>
        <a:lstStyle/>
        <a:p>
          <a:endParaRPr lang="en-US"/>
        </a:p>
      </dgm:t>
    </dgm:pt>
    <dgm:pt modelId="{905A4AAB-B60D-499C-B70A-AE15A599B41C}">
      <dgm:prSet/>
      <dgm:spPr/>
      <dgm:t>
        <a:bodyPr/>
        <a:lstStyle/>
        <a:p>
          <a:r>
            <a:rPr lang="fr-FR" b="1"/>
            <a:t>Soutien social</a:t>
          </a:r>
          <a:r>
            <a:rPr lang="fr-FR"/>
            <a:t> : Évalue la capacité à compter sur des proches en cas de besoin, crucial pour le bien-être.</a:t>
          </a:r>
          <a:endParaRPr lang="en-US"/>
        </a:p>
      </dgm:t>
    </dgm:pt>
    <dgm:pt modelId="{4D726E86-1F79-41C2-8D8C-09E733E704D1}" type="parTrans" cxnId="{BD92438C-697C-482C-BCDD-0FB850FEDE19}">
      <dgm:prSet/>
      <dgm:spPr/>
      <dgm:t>
        <a:bodyPr/>
        <a:lstStyle/>
        <a:p>
          <a:endParaRPr lang="en-US"/>
        </a:p>
      </dgm:t>
    </dgm:pt>
    <dgm:pt modelId="{E78BF7A4-4AF1-4F5C-9F54-4987B063DE92}" type="sibTrans" cxnId="{BD92438C-697C-482C-BCDD-0FB850FEDE19}">
      <dgm:prSet/>
      <dgm:spPr/>
      <dgm:t>
        <a:bodyPr/>
        <a:lstStyle/>
        <a:p>
          <a:endParaRPr lang="en-US"/>
        </a:p>
      </dgm:t>
    </dgm:pt>
    <dgm:pt modelId="{A9636A38-D56A-4DF3-B55E-64A19AD2DB89}">
      <dgm:prSet/>
      <dgm:spPr/>
      <dgm:t>
        <a:bodyPr/>
        <a:lstStyle/>
        <a:p>
          <a:r>
            <a:rPr lang="fr-FR" b="1"/>
            <a:t>Espérance de vie</a:t>
          </a:r>
          <a:r>
            <a:rPr lang="fr-FR"/>
            <a:t> : Durée moyenne de vie en bonne santé, indicateur clé de la qualité de vie et des soins de santé.</a:t>
          </a:r>
          <a:endParaRPr lang="en-US"/>
        </a:p>
      </dgm:t>
    </dgm:pt>
    <dgm:pt modelId="{34F33049-0299-4DE1-BD10-EE280726F738}" type="parTrans" cxnId="{C238CBF5-B0CB-43F3-92E1-9BE42A1ED711}">
      <dgm:prSet/>
      <dgm:spPr/>
      <dgm:t>
        <a:bodyPr/>
        <a:lstStyle/>
        <a:p>
          <a:endParaRPr lang="en-US"/>
        </a:p>
      </dgm:t>
    </dgm:pt>
    <dgm:pt modelId="{488282ED-5F28-4242-A907-981C7F18D18F}" type="sibTrans" cxnId="{C238CBF5-B0CB-43F3-92E1-9BE42A1ED711}">
      <dgm:prSet/>
      <dgm:spPr/>
      <dgm:t>
        <a:bodyPr/>
        <a:lstStyle/>
        <a:p>
          <a:endParaRPr lang="en-US"/>
        </a:p>
      </dgm:t>
    </dgm:pt>
    <dgm:pt modelId="{B7777278-7BA3-4503-8B1B-F81776844FBE}">
      <dgm:prSet/>
      <dgm:spPr/>
      <dgm:t>
        <a:bodyPr/>
        <a:lstStyle/>
        <a:p>
          <a:r>
            <a:rPr lang="fr-FR" b="1"/>
            <a:t>Liberté de choix</a:t>
          </a:r>
          <a:r>
            <a:rPr lang="fr-FR"/>
            <a:t> : Mesure du degré de liberté perçue pour prendre des décisions importantes dans sa vie.</a:t>
          </a:r>
          <a:endParaRPr lang="en-US"/>
        </a:p>
      </dgm:t>
    </dgm:pt>
    <dgm:pt modelId="{A158AF48-000E-48A6-961F-B13229F8DB17}" type="parTrans" cxnId="{2BD6CCF8-A4AB-48DE-948D-FA807208DD5C}">
      <dgm:prSet/>
      <dgm:spPr/>
      <dgm:t>
        <a:bodyPr/>
        <a:lstStyle/>
        <a:p>
          <a:endParaRPr lang="en-US"/>
        </a:p>
      </dgm:t>
    </dgm:pt>
    <dgm:pt modelId="{B9843FA2-9DED-43C6-A5CA-ACEF437BDB75}" type="sibTrans" cxnId="{2BD6CCF8-A4AB-48DE-948D-FA807208DD5C}">
      <dgm:prSet/>
      <dgm:spPr/>
      <dgm:t>
        <a:bodyPr/>
        <a:lstStyle/>
        <a:p>
          <a:endParaRPr lang="en-US"/>
        </a:p>
      </dgm:t>
    </dgm:pt>
    <dgm:pt modelId="{B26DA58A-F3C2-43F5-9E45-655DA7DA34F1}">
      <dgm:prSet/>
      <dgm:spPr/>
      <dgm:t>
        <a:bodyPr/>
        <a:lstStyle/>
        <a:p>
          <a:r>
            <a:rPr lang="fr-FR" b="1"/>
            <a:t>Perception de la corruption</a:t>
          </a:r>
          <a:r>
            <a:rPr lang="fr-FR"/>
            <a:t> : Évalue la confiance dans les institutions et l'absence de corruption perçue dans la société.</a:t>
          </a:r>
          <a:endParaRPr lang="en-US"/>
        </a:p>
      </dgm:t>
    </dgm:pt>
    <dgm:pt modelId="{F56E8305-CB00-4324-95D7-F25954C2AA9B}" type="parTrans" cxnId="{9C32C4A4-B79F-492B-BA26-131293EA7A05}">
      <dgm:prSet/>
      <dgm:spPr/>
      <dgm:t>
        <a:bodyPr/>
        <a:lstStyle/>
        <a:p>
          <a:endParaRPr lang="en-US"/>
        </a:p>
      </dgm:t>
    </dgm:pt>
    <dgm:pt modelId="{28FDBB66-1174-406E-A2D1-6A16D3ED0414}" type="sibTrans" cxnId="{9C32C4A4-B79F-492B-BA26-131293EA7A05}">
      <dgm:prSet/>
      <dgm:spPr/>
      <dgm:t>
        <a:bodyPr/>
        <a:lstStyle/>
        <a:p>
          <a:endParaRPr lang="en-US"/>
        </a:p>
      </dgm:t>
    </dgm:pt>
    <dgm:pt modelId="{A12E0900-DED3-47A0-A17F-5EF3F01F87C5}" type="pres">
      <dgm:prSet presAssocID="{ECBA6D04-907C-4277-8E59-268D8A20C426}" presName="root" presStyleCnt="0">
        <dgm:presLayoutVars>
          <dgm:dir/>
          <dgm:resizeHandles val="exact"/>
        </dgm:presLayoutVars>
      </dgm:prSet>
      <dgm:spPr/>
    </dgm:pt>
    <dgm:pt modelId="{46B29416-3D2E-477C-A508-B70A9533DCDE}" type="pres">
      <dgm:prSet presAssocID="{ECBA6D04-907C-4277-8E59-268D8A20C426}" presName="container" presStyleCnt="0">
        <dgm:presLayoutVars>
          <dgm:dir/>
          <dgm:resizeHandles val="exact"/>
        </dgm:presLayoutVars>
      </dgm:prSet>
      <dgm:spPr/>
    </dgm:pt>
    <dgm:pt modelId="{3096623D-C3AE-4220-BFDF-29D8382C519C}" type="pres">
      <dgm:prSet presAssocID="{24834519-ADD9-4EA5-B703-7D5867321E9E}" presName="compNode" presStyleCnt="0"/>
      <dgm:spPr/>
    </dgm:pt>
    <dgm:pt modelId="{96C874EC-9480-4F84-B17A-F52422F6968F}" type="pres">
      <dgm:prSet presAssocID="{24834519-ADD9-4EA5-B703-7D5867321E9E}" presName="iconBgRect" presStyleLbl="bgShp" presStyleIdx="0" presStyleCnt="6"/>
      <dgm:spPr/>
    </dgm:pt>
    <dgm:pt modelId="{535892B8-FB84-4706-B48F-E8B6E16C077C}" type="pres">
      <dgm:prSet presAssocID="{24834519-ADD9-4EA5-B703-7D5867321E9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helle"/>
        </a:ext>
      </dgm:extLst>
    </dgm:pt>
    <dgm:pt modelId="{CF69743A-64E0-48DB-9B88-54201E0CC46A}" type="pres">
      <dgm:prSet presAssocID="{24834519-ADD9-4EA5-B703-7D5867321E9E}" presName="spaceRect" presStyleCnt="0"/>
      <dgm:spPr/>
    </dgm:pt>
    <dgm:pt modelId="{6D1FF5E1-22C7-4CD6-8855-06872862A074}" type="pres">
      <dgm:prSet presAssocID="{24834519-ADD9-4EA5-B703-7D5867321E9E}" presName="textRect" presStyleLbl="revTx" presStyleIdx="0" presStyleCnt="6">
        <dgm:presLayoutVars>
          <dgm:chMax val="1"/>
          <dgm:chPref val="1"/>
        </dgm:presLayoutVars>
      </dgm:prSet>
      <dgm:spPr/>
    </dgm:pt>
    <dgm:pt modelId="{44522C26-2193-4138-9935-D7918C8E4C9C}" type="pres">
      <dgm:prSet presAssocID="{90DAC914-2927-46F7-989C-867115727189}" presName="sibTrans" presStyleLbl="sibTrans2D1" presStyleIdx="0" presStyleCnt="0"/>
      <dgm:spPr/>
    </dgm:pt>
    <dgm:pt modelId="{642CC557-E032-4EE0-B6E9-D8FCF56A2AE2}" type="pres">
      <dgm:prSet presAssocID="{10C3CDF0-E3F3-4E21-951A-3D6A093BF0CB}" presName="compNode" presStyleCnt="0"/>
      <dgm:spPr/>
    </dgm:pt>
    <dgm:pt modelId="{5DE61630-D65D-438A-8AA9-AE0E56C4F32C}" type="pres">
      <dgm:prSet presAssocID="{10C3CDF0-E3F3-4E21-951A-3D6A093BF0CB}" presName="iconBgRect" presStyleLbl="bgShp" presStyleIdx="1" presStyleCnt="6"/>
      <dgm:spPr/>
    </dgm:pt>
    <dgm:pt modelId="{2C95B46B-8A32-4146-90CC-738FD1FF387F}" type="pres">
      <dgm:prSet presAssocID="{10C3CDF0-E3F3-4E21-951A-3D6A093BF0C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F648CC2-F06C-40D8-B9D1-E3FFBF5BE0AE}" type="pres">
      <dgm:prSet presAssocID="{10C3CDF0-E3F3-4E21-951A-3D6A093BF0CB}" presName="spaceRect" presStyleCnt="0"/>
      <dgm:spPr/>
    </dgm:pt>
    <dgm:pt modelId="{CB5990FD-25BF-4220-B2E7-9C5037E22F26}" type="pres">
      <dgm:prSet presAssocID="{10C3CDF0-E3F3-4E21-951A-3D6A093BF0CB}" presName="textRect" presStyleLbl="revTx" presStyleIdx="1" presStyleCnt="6">
        <dgm:presLayoutVars>
          <dgm:chMax val="1"/>
          <dgm:chPref val="1"/>
        </dgm:presLayoutVars>
      </dgm:prSet>
      <dgm:spPr/>
    </dgm:pt>
    <dgm:pt modelId="{DF2906EE-5D0E-4C3B-9E29-204EAFCD02AF}" type="pres">
      <dgm:prSet presAssocID="{32C97FE4-5805-461A-8A9E-C65AB65B5588}" presName="sibTrans" presStyleLbl="sibTrans2D1" presStyleIdx="0" presStyleCnt="0"/>
      <dgm:spPr/>
    </dgm:pt>
    <dgm:pt modelId="{B455FB88-D8A5-4FEC-89BF-881CD078412E}" type="pres">
      <dgm:prSet presAssocID="{905A4AAB-B60D-499C-B70A-AE15A599B41C}" presName="compNode" presStyleCnt="0"/>
      <dgm:spPr/>
    </dgm:pt>
    <dgm:pt modelId="{9A313322-D222-4A4E-9DAD-08E5C362660D}" type="pres">
      <dgm:prSet presAssocID="{905A4AAB-B60D-499C-B70A-AE15A599B41C}" presName="iconBgRect" presStyleLbl="bgShp" presStyleIdx="2" presStyleCnt="6"/>
      <dgm:spPr/>
    </dgm:pt>
    <dgm:pt modelId="{FC527A6C-CA2F-41FE-AD6C-C777A7D2B975}" type="pres">
      <dgm:prSet presAssocID="{905A4AAB-B60D-499C-B70A-AE15A599B41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2C26EF3D-2837-45C5-9AD9-ECB1F926E85A}" type="pres">
      <dgm:prSet presAssocID="{905A4AAB-B60D-499C-B70A-AE15A599B41C}" presName="spaceRect" presStyleCnt="0"/>
      <dgm:spPr/>
    </dgm:pt>
    <dgm:pt modelId="{1D3BF32F-63B9-4EFD-8606-A886BD2436BE}" type="pres">
      <dgm:prSet presAssocID="{905A4AAB-B60D-499C-B70A-AE15A599B41C}" presName="textRect" presStyleLbl="revTx" presStyleIdx="2" presStyleCnt="6">
        <dgm:presLayoutVars>
          <dgm:chMax val="1"/>
          <dgm:chPref val="1"/>
        </dgm:presLayoutVars>
      </dgm:prSet>
      <dgm:spPr/>
    </dgm:pt>
    <dgm:pt modelId="{55B21DDD-4303-4C71-8DEB-6D31C925C393}" type="pres">
      <dgm:prSet presAssocID="{E78BF7A4-4AF1-4F5C-9F54-4987B063DE92}" presName="sibTrans" presStyleLbl="sibTrans2D1" presStyleIdx="0" presStyleCnt="0"/>
      <dgm:spPr/>
    </dgm:pt>
    <dgm:pt modelId="{5C8A9890-7FB1-47D8-8211-EF35DAB2226F}" type="pres">
      <dgm:prSet presAssocID="{A9636A38-D56A-4DF3-B55E-64A19AD2DB89}" presName="compNode" presStyleCnt="0"/>
      <dgm:spPr/>
    </dgm:pt>
    <dgm:pt modelId="{BCA13D24-68BB-4D61-AF6C-AD1B7B11CD20}" type="pres">
      <dgm:prSet presAssocID="{A9636A38-D56A-4DF3-B55E-64A19AD2DB89}" presName="iconBgRect" presStyleLbl="bgShp" presStyleIdx="3" presStyleCnt="6"/>
      <dgm:spPr/>
    </dgm:pt>
    <dgm:pt modelId="{E6BB1B6D-41C1-439D-819C-720159D81E3A}" type="pres">
      <dgm:prSet presAssocID="{A9636A38-D56A-4DF3-B55E-64A19AD2DB8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 Glasses"/>
        </a:ext>
      </dgm:extLst>
    </dgm:pt>
    <dgm:pt modelId="{11ABF96D-4853-4139-B347-F67EF876AAF3}" type="pres">
      <dgm:prSet presAssocID="{A9636A38-D56A-4DF3-B55E-64A19AD2DB89}" presName="spaceRect" presStyleCnt="0"/>
      <dgm:spPr/>
    </dgm:pt>
    <dgm:pt modelId="{BA2E353F-80D9-42D2-827E-E5F9D7ADB26F}" type="pres">
      <dgm:prSet presAssocID="{A9636A38-D56A-4DF3-B55E-64A19AD2DB89}" presName="textRect" presStyleLbl="revTx" presStyleIdx="3" presStyleCnt="6">
        <dgm:presLayoutVars>
          <dgm:chMax val="1"/>
          <dgm:chPref val="1"/>
        </dgm:presLayoutVars>
      </dgm:prSet>
      <dgm:spPr/>
    </dgm:pt>
    <dgm:pt modelId="{042DC9BC-8703-40DE-A669-71D3CA100730}" type="pres">
      <dgm:prSet presAssocID="{488282ED-5F28-4242-A907-981C7F18D18F}" presName="sibTrans" presStyleLbl="sibTrans2D1" presStyleIdx="0" presStyleCnt="0"/>
      <dgm:spPr/>
    </dgm:pt>
    <dgm:pt modelId="{1DCC4A20-3EA9-43F8-BCDA-788B00B635FA}" type="pres">
      <dgm:prSet presAssocID="{B7777278-7BA3-4503-8B1B-F81776844FBE}" presName="compNode" presStyleCnt="0"/>
      <dgm:spPr/>
    </dgm:pt>
    <dgm:pt modelId="{D1832277-91F8-477D-B5E9-250BA6CFBEA8}" type="pres">
      <dgm:prSet presAssocID="{B7777278-7BA3-4503-8B1B-F81776844FBE}" presName="iconBgRect" presStyleLbl="bgShp" presStyleIdx="4" presStyleCnt="6"/>
      <dgm:spPr/>
    </dgm:pt>
    <dgm:pt modelId="{7B8239DD-0813-446F-A3BF-485EEC3FA85F}" type="pres">
      <dgm:prSet presAssocID="{B7777278-7BA3-4503-8B1B-F81776844FB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3242DFD-9D5B-49DA-8A89-91F81E0C190F}" type="pres">
      <dgm:prSet presAssocID="{B7777278-7BA3-4503-8B1B-F81776844FBE}" presName="spaceRect" presStyleCnt="0"/>
      <dgm:spPr/>
    </dgm:pt>
    <dgm:pt modelId="{FBEDEE13-9250-432E-9E03-BD849312C5F5}" type="pres">
      <dgm:prSet presAssocID="{B7777278-7BA3-4503-8B1B-F81776844FBE}" presName="textRect" presStyleLbl="revTx" presStyleIdx="4" presStyleCnt="6">
        <dgm:presLayoutVars>
          <dgm:chMax val="1"/>
          <dgm:chPref val="1"/>
        </dgm:presLayoutVars>
      </dgm:prSet>
      <dgm:spPr/>
    </dgm:pt>
    <dgm:pt modelId="{833C60C1-CFB8-4543-BEF3-F71B9A5D87FE}" type="pres">
      <dgm:prSet presAssocID="{B9843FA2-9DED-43C6-A5CA-ACEF437BDB75}" presName="sibTrans" presStyleLbl="sibTrans2D1" presStyleIdx="0" presStyleCnt="0"/>
      <dgm:spPr/>
    </dgm:pt>
    <dgm:pt modelId="{363DF4F8-C9F2-427E-826C-C34C501D372E}" type="pres">
      <dgm:prSet presAssocID="{B26DA58A-F3C2-43F5-9E45-655DA7DA34F1}" presName="compNode" presStyleCnt="0"/>
      <dgm:spPr/>
    </dgm:pt>
    <dgm:pt modelId="{D4DD6DB3-A314-4F4B-83F9-493E25BE4EE2}" type="pres">
      <dgm:prSet presAssocID="{B26DA58A-F3C2-43F5-9E45-655DA7DA34F1}" presName="iconBgRect" presStyleLbl="bgShp" presStyleIdx="5" presStyleCnt="6"/>
      <dgm:spPr/>
    </dgm:pt>
    <dgm:pt modelId="{098D842D-4B91-4900-8AE3-0CA0F147FD21}" type="pres">
      <dgm:prSet presAssocID="{B26DA58A-F3C2-43F5-9E45-655DA7DA34F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6BCFD76-4532-4365-ABC5-01A6A69F0A36}" type="pres">
      <dgm:prSet presAssocID="{B26DA58A-F3C2-43F5-9E45-655DA7DA34F1}" presName="spaceRect" presStyleCnt="0"/>
      <dgm:spPr/>
    </dgm:pt>
    <dgm:pt modelId="{2BB35F6E-BD40-4590-AA1F-45FFA67E3292}" type="pres">
      <dgm:prSet presAssocID="{B26DA58A-F3C2-43F5-9E45-655DA7DA34F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4099F0B-0FED-4FAE-B944-80394F33A43B}" type="presOf" srcId="{32C97FE4-5805-461A-8A9E-C65AB65B5588}" destId="{DF2906EE-5D0E-4C3B-9E29-204EAFCD02AF}" srcOrd="0" destOrd="0" presId="urn:microsoft.com/office/officeart/2018/2/layout/IconCircleList"/>
    <dgm:cxn modelId="{F8BD561C-3C20-4EC1-A89B-A7C69D65EEC8}" type="presOf" srcId="{B26DA58A-F3C2-43F5-9E45-655DA7DA34F1}" destId="{2BB35F6E-BD40-4590-AA1F-45FFA67E3292}" srcOrd="0" destOrd="0" presId="urn:microsoft.com/office/officeart/2018/2/layout/IconCircleList"/>
    <dgm:cxn modelId="{DAE81620-C9B4-4A6E-A21F-D0AD9ED692EC}" type="presOf" srcId="{905A4AAB-B60D-499C-B70A-AE15A599B41C}" destId="{1D3BF32F-63B9-4EFD-8606-A886BD2436BE}" srcOrd="0" destOrd="0" presId="urn:microsoft.com/office/officeart/2018/2/layout/IconCircleList"/>
    <dgm:cxn modelId="{E6A74B21-B35F-4502-817D-E336AABA9C07}" srcId="{ECBA6D04-907C-4277-8E59-268D8A20C426}" destId="{10C3CDF0-E3F3-4E21-951A-3D6A093BF0CB}" srcOrd="1" destOrd="0" parTransId="{FA563D80-E753-4EB3-8FA9-21A2E5802990}" sibTransId="{32C97FE4-5805-461A-8A9E-C65AB65B5588}"/>
    <dgm:cxn modelId="{FAC43B23-52F6-450C-B85B-5699E6C8006A}" type="presOf" srcId="{A9636A38-D56A-4DF3-B55E-64A19AD2DB89}" destId="{BA2E353F-80D9-42D2-827E-E5F9D7ADB26F}" srcOrd="0" destOrd="0" presId="urn:microsoft.com/office/officeart/2018/2/layout/IconCircleList"/>
    <dgm:cxn modelId="{46008E58-BF44-4BE9-A29A-A13225B91752}" type="presOf" srcId="{E78BF7A4-4AF1-4F5C-9F54-4987B063DE92}" destId="{55B21DDD-4303-4C71-8DEB-6D31C925C393}" srcOrd="0" destOrd="0" presId="urn:microsoft.com/office/officeart/2018/2/layout/IconCircleList"/>
    <dgm:cxn modelId="{E5477D59-5985-4F6C-84E4-E6435257CFB3}" type="presOf" srcId="{B9843FA2-9DED-43C6-A5CA-ACEF437BDB75}" destId="{833C60C1-CFB8-4543-BEF3-F71B9A5D87FE}" srcOrd="0" destOrd="0" presId="urn:microsoft.com/office/officeart/2018/2/layout/IconCircleList"/>
    <dgm:cxn modelId="{35C47084-E8FA-4F4A-B184-56092B43EE02}" type="presOf" srcId="{90DAC914-2927-46F7-989C-867115727189}" destId="{44522C26-2193-4138-9935-D7918C8E4C9C}" srcOrd="0" destOrd="0" presId="urn:microsoft.com/office/officeart/2018/2/layout/IconCircleList"/>
    <dgm:cxn modelId="{71FAED8B-2AC0-403C-B6BE-E044BB356210}" srcId="{ECBA6D04-907C-4277-8E59-268D8A20C426}" destId="{24834519-ADD9-4EA5-B703-7D5867321E9E}" srcOrd="0" destOrd="0" parTransId="{6825CE9F-E552-48FA-8BB5-67B438DACFEB}" sibTransId="{90DAC914-2927-46F7-989C-867115727189}"/>
    <dgm:cxn modelId="{BD92438C-697C-482C-BCDD-0FB850FEDE19}" srcId="{ECBA6D04-907C-4277-8E59-268D8A20C426}" destId="{905A4AAB-B60D-499C-B70A-AE15A599B41C}" srcOrd="2" destOrd="0" parTransId="{4D726E86-1F79-41C2-8D8C-09E733E704D1}" sibTransId="{E78BF7A4-4AF1-4F5C-9F54-4987B063DE92}"/>
    <dgm:cxn modelId="{9C32C4A4-B79F-492B-BA26-131293EA7A05}" srcId="{ECBA6D04-907C-4277-8E59-268D8A20C426}" destId="{B26DA58A-F3C2-43F5-9E45-655DA7DA34F1}" srcOrd="5" destOrd="0" parTransId="{F56E8305-CB00-4324-95D7-F25954C2AA9B}" sibTransId="{28FDBB66-1174-406E-A2D1-6A16D3ED0414}"/>
    <dgm:cxn modelId="{0E72D8C1-4922-41A9-A8A8-45AD15F7D937}" type="presOf" srcId="{ECBA6D04-907C-4277-8E59-268D8A20C426}" destId="{A12E0900-DED3-47A0-A17F-5EF3F01F87C5}" srcOrd="0" destOrd="0" presId="urn:microsoft.com/office/officeart/2018/2/layout/IconCircleList"/>
    <dgm:cxn modelId="{C238CBF5-B0CB-43F3-92E1-9BE42A1ED711}" srcId="{ECBA6D04-907C-4277-8E59-268D8A20C426}" destId="{A9636A38-D56A-4DF3-B55E-64A19AD2DB89}" srcOrd="3" destOrd="0" parTransId="{34F33049-0299-4DE1-BD10-EE280726F738}" sibTransId="{488282ED-5F28-4242-A907-981C7F18D18F}"/>
    <dgm:cxn modelId="{723520F7-5967-4293-A71D-C0E99971161C}" type="presOf" srcId="{B7777278-7BA3-4503-8B1B-F81776844FBE}" destId="{FBEDEE13-9250-432E-9E03-BD849312C5F5}" srcOrd="0" destOrd="0" presId="urn:microsoft.com/office/officeart/2018/2/layout/IconCircleList"/>
    <dgm:cxn modelId="{2BD6CCF8-A4AB-48DE-948D-FA807208DD5C}" srcId="{ECBA6D04-907C-4277-8E59-268D8A20C426}" destId="{B7777278-7BA3-4503-8B1B-F81776844FBE}" srcOrd="4" destOrd="0" parTransId="{A158AF48-000E-48A6-961F-B13229F8DB17}" sibTransId="{B9843FA2-9DED-43C6-A5CA-ACEF437BDB75}"/>
    <dgm:cxn modelId="{6EEFC6FA-F1CB-4302-BF25-6E292DEE03D8}" type="presOf" srcId="{488282ED-5F28-4242-A907-981C7F18D18F}" destId="{042DC9BC-8703-40DE-A669-71D3CA100730}" srcOrd="0" destOrd="0" presId="urn:microsoft.com/office/officeart/2018/2/layout/IconCircleList"/>
    <dgm:cxn modelId="{E3298BFD-2484-42E3-88D4-D8AE1E73BD94}" type="presOf" srcId="{24834519-ADD9-4EA5-B703-7D5867321E9E}" destId="{6D1FF5E1-22C7-4CD6-8855-06872862A074}" srcOrd="0" destOrd="0" presId="urn:microsoft.com/office/officeart/2018/2/layout/IconCircleList"/>
    <dgm:cxn modelId="{5548CEFF-1BAC-4D01-921C-0D4DDF71D881}" type="presOf" srcId="{10C3CDF0-E3F3-4E21-951A-3D6A093BF0CB}" destId="{CB5990FD-25BF-4220-B2E7-9C5037E22F26}" srcOrd="0" destOrd="0" presId="urn:microsoft.com/office/officeart/2018/2/layout/IconCircleList"/>
    <dgm:cxn modelId="{413624FA-32B1-40AA-8E73-87386628929E}" type="presParOf" srcId="{A12E0900-DED3-47A0-A17F-5EF3F01F87C5}" destId="{46B29416-3D2E-477C-A508-B70A9533DCDE}" srcOrd="0" destOrd="0" presId="urn:microsoft.com/office/officeart/2018/2/layout/IconCircleList"/>
    <dgm:cxn modelId="{50FCC33D-EAAF-4ECF-9822-CDA8A15C94A9}" type="presParOf" srcId="{46B29416-3D2E-477C-A508-B70A9533DCDE}" destId="{3096623D-C3AE-4220-BFDF-29D8382C519C}" srcOrd="0" destOrd="0" presId="urn:microsoft.com/office/officeart/2018/2/layout/IconCircleList"/>
    <dgm:cxn modelId="{A5C09163-757D-4B65-B30E-68FE1C245A7F}" type="presParOf" srcId="{3096623D-C3AE-4220-BFDF-29D8382C519C}" destId="{96C874EC-9480-4F84-B17A-F52422F6968F}" srcOrd="0" destOrd="0" presId="urn:microsoft.com/office/officeart/2018/2/layout/IconCircleList"/>
    <dgm:cxn modelId="{CC499CF3-4A92-4910-B1C7-E1D7C989C970}" type="presParOf" srcId="{3096623D-C3AE-4220-BFDF-29D8382C519C}" destId="{535892B8-FB84-4706-B48F-E8B6E16C077C}" srcOrd="1" destOrd="0" presId="urn:microsoft.com/office/officeart/2018/2/layout/IconCircleList"/>
    <dgm:cxn modelId="{7309C531-63DD-4FFB-882B-30FEC36045A7}" type="presParOf" srcId="{3096623D-C3AE-4220-BFDF-29D8382C519C}" destId="{CF69743A-64E0-48DB-9B88-54201E0CC46A}" srcOrd="2" destOrd="0" presId="urn:microsoft.com/office/officeart/2018/2/layout/IconCircleList"/>
    <dgm:cxn modelId="{055BF848-B6CF-4936-B822-807568EF13BA}" type="presParOf" srcId="{3096623D-C3AE-4220-BFDF-29D8382C519C}" destId="{6D1FF5E1-22C7-4CD6-8855-06872862A074}" srcOrd="3" destOrd="0" presId="urn:microsoft.com/office/officeart/2018/2/layout/IconCircleList"/>
    <dgm:cxn modelId="{7D9D0B7C-0FC0-4D43-ACD0-AFAED3AD7191}" type="presParOf" srcId="{46B29416-3D2E-477C-A508-B70A9533DCDE}" destId="{44522C26-2193-4138-9935-D7918C8E4C9C}" srcOrd="1" destOrd="0" presId="urn:microsoft.com/office/officeart/2018/2/layout/IconCircleList"/>
    <dgm:cxn modelId="{B1C818B5-8C82-487D-986E-39EEEFA7135E}" type="presParOf" srcId="{46B29416-3D2E-477C-A508-B70A9533DCDE}" destId="{642CC557-E032-4EE0-B6E9-D8FCF56A2AE2}" srcOrd="2" destOrd="0" presId="urn:microsoft.com/office/officeart/2018/2/layout/IconCircleList"/>
    <dgm:cxn modelId="{A21621B6-9027-4CC6-918B-5D98C83A8080}" type="presParOf" srcId="{642CC557-E032-4EE0-B6E9-D8FCF56A2AE2}" destId="{5DE61630-D65D-438A-8AA9-AE0E56C4F32C}" srcOrd="0" destOrd="0" presId="urn:microsoft.com/office/officeart/2018/2/layout/IconCircleList"/>
    <dgm:cxn modelId="{E53DF39C-CD51-4DCA-A744-4FE54D207357}" type="presParOf" srcId="{642CC557-E032-4EE0-B6E9-D8FCF56A2AE2}" destId="{2C95B46B-8A32-4146-90CC-738FD1FF387F}" srcOrd="1" destOrd="0" presId="urn:microsoft.com/office/officeart/2018/2/layout/IconCircleList"/>
    <dgm:cxn modelId="{59DFE2ED-D02A-49B8-A33D-7654323B5A88}" type="presParOf" srcId="{642CC557-E032-4EE0-B6E9-D8FCF56A2AE2}" destId="{1F648CC2-F06C-40D8-B9D1-E3FFBF5BE0AE}" srcOrd="2" destOrd="0" presId="urn:microsoft.com/office/officeart/2018/2/layout/IconCircleList"/>
    <dgm:cxn modelId="{E2642BE1-1789-40ED-A935-0CC01D303A53}" type="presParOf" srcId="{642CC557-E032-4EE0-B6E9-D8FCF56A2AE2}" destId="{CB5990FD-25BF-4220-B2E7-9C5037E22F26}" srcOrd="3" destOrd="0" presId="urn:microsoft.com/office/officeart/2018/2/layout/IconCircleList"/>
    <dgm:cxn modelId="{411AFD0B-E4DC-4C51-8D60-B7D10A759962}" type="presParOf" srcId="{46B29416-3D2E-477C-A508-B70A9533DCDE}" destId="{DF2906EE-5D0E-4C3B-9E29-204EAFCD02AF}" srcOrd="3" destOrd="0" presId="urn:microsoft.com/office/officeart/2018/2/layout/IconCircleList"/>
    <dgm:cxn modelId="{2087531C-7F90-4485-B0B3-560B8C6E2929}" type="presParOf" srcId="{46B29416-3D2E-477C-A508-B70A9533DCDE}" destId="{B455FB88-D8A5-4FEC-89BF-881CD078412E}" srcOrd="4" destOrd="0" presId="urn:microsoft.com/office/officeart/2018/2/layout/IconCircleList"/>
    <dgm:cxn modelId="{42C92271-A493-44D2-B984-89368DB14580}" type="presParOf" srcId="{B455FB88-D8A5-4FEC-89BF-881CD078412E}" destId="{9A313322-D222-4A4E-9DAD-08E5C362660D}" srcOrd="0" destOrd="0" presId="urn:microsoft.com/office/officeart/2018/2/layout/IconCircleList"/>
    <dgm:cxn modelId="{BB5FCAD2-62DC-426B-AD81-DBAB3FEF0E14}" type="presParOf" srcId="{B455FB88-D8A5-4FEC-89BF-881CD078412E}" destId="{FC527A6C-CA2F-41FE-AD6C-C777A7D2B975}" srcOrd="1" destOrd="0" presId="urn:microsoft.com/office/officeart/2018/2/layout/IconCircleList"/>
    <dgm:cxn modelId="{047BF8BB-04B0-4976-8DC3-3BE132A3970C}" type="presParOf" srcId="{B455FB88-D8A5-4FEC-89BF-881CD078412E}" destId="{2C26EF3D-2837-45C5-9AD9-ECB1F926E85A}" srcOrd="2" destOrd="0" presId="urn:microsoft.com/office/officeart/2018/2/layout/IconCircleList"/>
    <dgm:cxn modelId="{0BA01E63-73C1-4C2B-B7FC-A2319237D3E6}" type="presParOf" srcId="{B455FB88-D8A5-4FEC-89BF-881CD078412E}" destId="{1D3BF32F-63B9-4EFD-8606-A886BD2436BE}" srcOrd="3" destOrd="0" presId="urn:microsoft.com/office/officeart/2018/2/layout/IconCircleList"/>
    <dgm:cxn modelId="{21E5E994-7D18-4DC5-84C2-0949460ECE5B}" type="presParOf" srcId="{46B29416-3D2E-477C-A508-B70A9533DCDE}" destId="{55B21DDD-4303-4C71-8DEB-6D31C925C393}" srcOrd="5" destOrd="0" presId="urn:microsoft.com/office/officeart/2018/2/layout/IconCircleList"/>
    <dgm:cxn modelId="{8CAF24E1-E15D-4600-A7AF-6660A546A6D1}" type="presParOf" srcId="{46B29416-3D2E-477C-A508-B70A9533DCDE}" destId="{5C8A9890-7FB1-47D8-8211-EF35DAB2226F}" srcOrd="6" destOrd="0" presId="urn:microsoft.com/office/officeart/2018/2/layout/IconCircleList"/>
    <dgm:cxn modelId="{7CAAE181-5A61-4DAF-844F-CFFA0B318117}" type="presParOf" srcId="{5C8A9890-7FB1-47D8-8211-EF35DAB2226F}" destId="{BCA13D24-68BB-4D61-AF6C-AD1B7B11CD20}" srcOrd="0" destOrd="0" presId="urn:microsoft.com/office/officeart/2018/2/layout/IconCircleList"/>
    <dgm:cxn modelId="{606550FC-8A59-4871-9D7B-0C43944251D2}" type="presParOf" srcId="{5C8A9890-7FB1-47D8-8211-EF35DAB2226F}" destId="{E6BB1B6D-41C1-439D-819C-720159D81E3A}" srcOrd="1" destOrd="0" presId="urn:microsoft.com/office/officeart/2018/2/layout/IconCircleList"/>
    <dgm:cxn modelId="{D7BF42C4-C05F-4EEF-B2E1-E46B36025990}" type="presParOf" srcId="{5C8A9890-7FB1-47D8-8211-EF35DAB2226F}" destId="{11ABF96D-4853-4139-B347-F67EF876AAF3}" srcOrd="2" destOrd="0" presId="urn:microsoft.com/office/officeart/2018/2/layout/IconCircleList"/>
    <dgm:cxn modelId="{3BE38BBE-2927-4055-94EB-BA8496CAD723}" type="presParOf" srcId="{5C8A9890-7FB1-47D8-8211-EF35DAB2226F}" destId="{BA2E353F-80D9-42D2-827E-E5F9D7ADB26F}" srcOrd="3" destOrd="0" presId="urn:microsoft.com/office/officeart/2018/2/layout/IconCircleList"/>
    <dgm:cxn modelId="{B32A38F5-7E55-4F61-B040-44C9D207E4F6}" type="presParOf" srcId="{46B29416-3D2E-477C-A508-B70A9533DCDE}" destId="{042DC9BC-8703-40DE-A669-71D3CA100730}" srcOrd="7" destOrd="0" presId="urn:microsoft.com/office/officeart/2018/2/layout/IconCircleList"/>
    <dgm:cxn modelId="{84ECF80D-5A82-4C87-90D7-A8EA472874C3}" type="presParOf" srcId="{46B29416-3D2E-477C-A508-B70A9533DCDE}" destId="{1DCC4A20-3EA9-43F8-BCDA-788B00B635FA}" srcOrd="8" destOrd="0" presId="urn:microsoft.com/office/officeart/2018/2/layout/IconCircleList"/>
    <dgm:cxn modelId="{09A6C105-4527-486C-917D-8917CD24C026}" type="presParOf" srcId="{1DCC4A20-3EA9-43F8-BCDA-788B00B635FA}" destId="{D1832277-91F8-477D-B5E9-250BA6CFBEA8}" srcOrd="0" destOrd="0" presId="urn:microsoft.com/office/officeart/2018/2/layout/IconCircleList"/>
    <dgm:cxn modelId="{FA194BCB-3ADC-4D48-B0C8-311378DA1E3C}" type="presParOf" srcId="{1DCC4A20-3EA9-43F8-BCDA-788B00B635FA}" destId="{7B8239DD-0813-446F-A3BF-485EEC3FA85F}" srcOrd="1" destOrd="0" presId="urn:microsoft.com/office/officeart/2018/2/layout/IconCircleList"/>
    <dgm:cxn modelId="{DD3E7E9C-22DA-4ECC-80A7-E79A4A293953}" type="presParOf" srcId="{1DCC4A20-3EA9-43F8-BCDA-788B00B635FA}" destId="{93242DFD-9D5B-49DA-8A89-91F81E0C190F}" srcOrd="2" destOrd="0" presId="urn:microsoft.com/office/officeart/2018/2/layout/IconCircleList"/>
    <dgm:cxn modelId="{C1806BC0-C330-449D-828F-3CE953A4E6D7}" type="presParOf" srcId="{1DCC4A20-3EA9-43F8-BCDA-788B00B635FA}" destId="{FBEDEE13-9250-432E-9E03-BD849312C5F5}" srcOrd="3" destOrd="0" presId="urn:microsoft.com/office/officeart/2018/2/layout/IconCircleList"/>
    <dgm:cxn modelId="{F9EC306B-ACB4-4D3A-89EC-2D531A7061E2}" type="presParOf" srcId="{46B29416-3D2E-477C-A508-B70A9533DCDE}" destId="{833C60C1-CFB8-4543-BEF3-F71B9A5D87FE}" srcOrd="9" destOrd="0" presId="urn:microsoft.com/office/officeart/2018/2/layout/IconCircleList"/>
    <dgm:cxn modelId="{3B1E040D-8F53-4CF7-A403-5C1153D474C7}" type="presParOf" srcId="{46B29416-3D2E-477C-A508-B70A9533DCDE}" destId="{363DF4F8-C9F2-427E-826C-C34C501D372E}" srcOrd="10" destOrd="0" presId="urn:microsoft.com/office/officeart/2018/2/layout/IconCircleList"/>
    <dgm:cxn modelId="{D1B33BE2-4413-48D0-8A04-F3C0DD690FFE}" type="presParOf" srcId="{363DF4F8-C9F2-427E-826C-C34C501D372E}" destId="{D4DD6DB3-A314-4F4B-83F9-493E25BE4EE2}" srcOrd="0" destOrd="0" presId="urn:microsoft.com/office/officeart/2018/2/layout/IconCircleList"/>
    <dgm:cxn modelId="{892E5215-A2B3-4EBB-B548-9CB207ABF69F}" type="presParOf" srcId="{363DF4F8-C9F2-427E-826C-C34C501D372E}" destId="{098D842D-4B91-4900-8AE3-0CA0F147FD21}" srcOrd="1" destOrd="0" presId="urn:microsoft.com/office/officeart/2018/2/layout/IconCircleList"/>
    <dgm:cxn modelId="{48E89A8F-36D6-4F13-B953-27CEE8555007}" type="presParOf" srcId="{363DF4F8-C9F2-427E-826C-C34C501D372E}" destId="{C6BCFD76-4532-4365-ABC5-01A6A69F0A36}" srcOrd="2" destOrd="0" presId="urn:microsoft.com/office/officeart/2018/2/layout/IconCircleList"/>
    <dgm:cxn modelId="{37D96D5D-E0EB-4D33-8BCD-0BFCBE9F9A5B}" type="presParOf" srcId="{363DF4F8-C9F2-427E-826C-C34C501D372E}" destId="{2BB35F6E-BD40-4590-AA1F-45FFA67E329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48EBA9-3CE9-4B99-8D75-016E989CD15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4078DE-0AE2-42F0-A1A8-C279DAFD2557}">
      <dgm:prSet/>
      <dgm:spPr/>
      <dgm:t>
        <a:bodyPr/>
        <a:lstStyle/>
        <a:p>
          <a:r>
            <a:rPr lang="fr-FR" dirty="0"/>
            <a:t>Résultats : Le soutien social est positivement lié au bonheur, surtout dans les pays nordiques.</a:t>
          </a:r>
          <a:endParaRPr lang="en-US" dirty="0"/>
        </a:p>
      </dgm:t>
    </dgm:pt>
    <dgm:pt modelId="{4E666DFF-9978-46CF-8D85-E3333D66B0D7}" type="parTrans" cxnId="{E074CA41-9749-4815-B1FC-05BD9457C323}">
      <dgm:prSet/>
      <dgm:spPr/>
      <dgm:t>
        <a:bodyPr/>
        <a:lstStyle/>
        <a:p>
          <a:endParaRPr lang="en-US"/>
        </a:p>
      </dgm:t>
    </dgm:pt>
    <dgm:pt modelId="{7042C8BA-06EE-496B-9E29-865C67D02F55}" type="sibTrans" cxnId="{E074CA41-9749-4815-B1FC-05BD9457C323}">
      <dgm:prSet/>
      <dgm:spPr/>
      <dgm:t>
        <a:bodyPr/>
        <a:lstStyle/>
        <a:p>
          <a:endParaRPr lang="en-US"/>
        </a:p>
      </dgm:t>
    </dgm:pt>
    <dgm:pt modelId="{215424C8-BB4D-4D0B-AF33-34F9B65C2235}">
      <dgm:prSet/>
      <dgm:spPr/>
      <dgm:t>
        <a:bodyPr/>
        <a:lstStyle/>
        <a:p>
          <a:r>
            <a:rPr lang="fr-FR"/>
            <a:t>Variations régionales : Des différences existent selon les régions, influencées par d'autres facteurs.</a:t>
          </a:r>
          <a:endParaRPr lang="en-US"/>
        </a:p>
      </dgm:t>
    </dgm:pt>
    <dgm:pt modelId="{1407F36F-EA1F-4CA8-83F1-B0184A8BCE4E}" type="parTrans" cxnId="{F6A8B8B9-BC7E-40CD-91FF-5BA28D54F5D3}">
      <dgm:prSet/>
      <dgm:spPr/>
      <dgm:t>
        <a:bodyPr/>
        <a:lstStyle/>
        <a:p>
          <a:endParaRPr lang="en-US"/>
        </a:p>
      </dgm:t>
    </dgm:pt>
    <dgm:pt modelId="{28FEBD3F-7F01-4364-9497-3DD19F8C04EB}" type="sibTrans" cxnId="{F6A8B8B9-BC7E-40CD-91FF-5BA28D54F5D3}">
      <dgm:prSet/>
      <dgm:spPr/>
      <dgm:t>
        <a:bodyPr/>
        <a:lstStyle/>
        <a:p>
          <a:endParaRPr lang="en-US"/>
        </a:p>
      </dgm:t>
    </dgm:pt>
    <dgm:pt modelId="{8938C74A-3384-42FC-9C10-05349C0760D9}">
      <dgm:prSet/>
      <dgm:spPr/>
      <dgm:t>
        <a:bodyPr/>
        <a:lstStyle/>
        <a:p>
          <a:r>
            <a:rPr lang="fr-FR"/>
            <a:t>Limites : Données manquantes et différences culturelles compliquent l’analyse complète.</a:t>
          </a:r>
          <a:endParaRPr lang="en-US"/>
        </a:p>
      </dgm:t>
    </dgm:pt>
    <dgm:pt modelId="{6CBA54FC-5D8A-4763-9469-87B4C5FCEBA8}" type="parTrans" cxnId="{B87919FE-5432-4870-AD4B-4A1A2B06E30E}">
      <dgm:prSet/>
      <dgm:spPr/>
      <dgm:t>
        <a:bodyPr/>
        <a:lstStyle/>
        <a:p>
          <a:endParaRPr lang="en-US"/>
        </a:p>
      </dgm:t>
    </dgm:pt>
    <dgm:pt modelId="{1C4D9ED4-ED5D-426D-81E3-CBA28DCF7096}" type="sibTrans" cxnId="{B87919FE-5432-4870-AD4B-4A1A2B06E30E}">
      <dgm:prSet/>
      <dgm:spPr/>
      <dgm:t>
        <a:bodyPr/>
        <a:lstStyle/>
        <a:p>
          <a:endParaRPr lang="en-US"/>
        </a:p>
      </dgm:t>
    </dgm:pt>
    <dgm:pt modelId="{A9119468-FE12-4A31-BBAD-5778651B2E5E}">
      <dgm:prSet/>
      <dgm:spPr/>
      <dgm:t>
        <a:bodyPr/>
        <a:lstStyle/>
        <a:p>
          <a:r>
            <a:rPr lang="fr-FR"/>
            <a:t>Perspectives : Nécessité d'approches qualitatives et de modèles plus complexes pour affiner l’étude.</a:t>
          </a:r>
          <a:endParaRPr lang="en-US"/>
        </a:p>
      </dgm:t>
    </dgm:pt>
    <dgm:pt modelId="{25347CDF-E1AE-4B00-9491-FBF442265260}" type="parTrans" cxnId="{01CBE7F4-EABF-48CE-975C-E932613F56D2}">
      <dgm:prSet/>
      <dgm:spPr/>
      <dgm:t>
        <a:bodyPr/>
        <a:lstStyle/>
        <a:p>
          <a:endParaRPr lang="en-US"/>
        </a:p>
      </dgm:t>
    </dgm:pt>
    <dgm:pt modelId="{CA998EF0-2ED0-498E-B9DD-8330A4CB1222}" type="sibTrans" cxnId="{01CBE7F4-EABF-48CE-975C-E932613F56D2}">
      <dgm:prSet/>
      <dgm:spPr/>
      <dgm:t>
        <a:bodyPr/>
        <a:lstStyle/>
        <a:p>
          <a:endParaRPr lang="en-US"/>
        </a:p>
      </dgm:t>
    </dgm:pt>
    <dgm:pt modelId="{8DE65D8D-10AF-415E-9E3A-80F90C8E0512}" type="pres">
      <dgm:prSet presAssocID="{7C48EBA9-3CE9-4B99-8D75-016E989CD1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D5294C-131F-42D9-8E9A-46E167C2DAF7}" type="pres">
      <dgm:prSet presAssocID="{144078DE-0AE2-42F0-A1A8-C279DAFD2557}" presName="hierRoot1" presStyleCnt="0"/>
      <dgm:spPr/>
    </dgm:pt>
    <dgm:pt modelId="{A0AD9582-C56A-4918-B714-112FE23FE350}" type="pres">
      <dgm:prSet presAssocID="{144078DE-0AE2-42F0-A1A8-C279DAFD2557}" presName="composite" presStyleCnt="0"/>
      <dgm:spPr/>
    </dgm:pt>
    <dgm:pt modelId="{9F4ABAD1-3AAA-401F-AA92-4A9FA8325DAA}" type="pres">
      <dgm:prSet presAssocID="{144078DE-0AE2-42F0-A1A8-C279DAFD2557}" presName="background" presStyleLbl="node0" presStyleIdx="0" presStyleCnt="4"/>
      <dgm:spPr/>
    </dgm:pt>
    <dgm:pt modelId="{29D4729D-1238-4089-9990-6BD33340D18D}" type="pres">
      <dgm:prSet presAssocID="{144078DE-0AE2-42F0-A1A8-C279DAFD2557}" presName="text" presStyleLbl="fgAcc0" presStyleIdx="0" presStyleCnt="4">
        <dgm:presLayoutVars>
          <dgm:chPref val="3"/>
        </dgm:presLayoutVars>
      </dgm:prSet>
      <dgm:spPr/>
    </dgm:pt>
    <dgm:pt modelId="{68AF4BCF-10FB-4894-8EBB-5B8AFF626C38}" type="pres">
      <dgm:prSet presAssocID="{144078DE-0AE2-42F0-A1A8-C279DAFD2557}" presName="hierChild2" presStyleCnt="0"/>
      <dgm:spPr/>
    </dgm:pt>
    <dgm:pt modelId="{740B1ACE-30F0-4D05-9516-6D99FF5691E7}" type="pres">
      <dgm:prSet presAssocID="{215424C8-BB4D-4D0B-AF33-34F9B65C2235}" presName="hierRoot1" presStyleCnt="0"/>
      <dgm:spPr/>
    </dgm:pt>
    <dgm:pt modelId="{D86CEC8D-8CDB-4BD7-B7F6-2CCA3874B86A}" type="pres">
      <dgm:prSet presAssocID="{215424C8-BB4D-4D0B-AF33-34F9B65C2235}" presName="composite" presStyleCnt="0"/>
      <dgm:spPr/>
    </dgm:pt>
    <dgm:pt modelId="{F570C64D-CC97-469A-8D93-C85785FBA307}" type="pres">
      <dgm:prSet presAssocID="{215424C8-BB4D-4D0B-AF33-34F9B65C2235}" presName="background" presStyleLbl="node0" presStyleIdx="1" presStyleCnt="4"/>
      <dgm:spPr/>
    </dgm:pt>
    <dgm:pt modelId="{F8E09BEA-6EE1-4FED-9D4C-D7BD1D5E648C}" type="pres">
      <dgm:prSet presAssocID="{215424C8-BB4D-4D0B-AF33-34F9B65C2235}" presName="text" presStyleLbl="fgAcc0" presStyleIdx="1" presStyleCnt="4">
        <dgm:presLayoutVars>
          <dgm:chPref val="3"/>
        </dgm:presLayoutVars>
      </dgm:prSet>
      <dgm:spPr/>
    </dgm:pt>
    <dgm:pt modelId="{4B8F253A-C219-432E-809A-F414FB3C8014}" type="pres">
      <dgm:prSet presAssocID="{215424C8-BB4D-4D0B-AF33-34F9B65C2235}" presName="hierChild2" presStyleCnt="0"/>
      <dgm:spPr/>
    </dgm:pt>
    <dgm:pt modelId="{B7B1256F-E9C7-42D4-AAF3-5F2DAC700E3A}" type="pres">
      <dgm:prSet presAssocID="{8938C74A-3384-42FC-9C10-05349C0760D9}" presName="hierRoot1" presStyleCnt="0"/>
      <dgm:spPr/>
    </dgm:pt>
    <dgm:pt modelId="{3D2E9889-DAD5-4046-BA61-C521A3259BF2}" type="pres">
      <dgm:prSet presAssocID="{8938C74A-3384-42FC-9C10-05349C0760D9}" presName="composite" presStyleCnt="0"/>
      <dgm:spPr/>
    </dgm:pt>
    <dgm:pt modelId="{557DCAA8-6BAF-48DB-9912-4987EA2E8362}" type="pres">
      <dgm:prSet presAssocID="{8938C74A-3384-42FC-9C10-05349C0760D9}" presName="background" presStyleLbl="node0" presStyleIdx="2" presStyleCnt="4"/>
      <dgm:spPr/>
    </dgm:pt>
    <dgm:pt modelId="{C7B9EA95-BC16-428E-B423-DE18D1622FAF}" type="pres">
      <dgm:prSet presAssocID="{8938C74A-3384-42FC-9C10-05349C0760D9}" presName="text" presStyleLbl="fgAcc0" presStyleIdx="2" presStyleCnt="4">
        <dgm:presLayoutVars>
          <dgm:chPref val="3"/>
        </dgm:presLayoutVars>
      </dgm:prSet>
      <dgm:spPr/>
    </dgm:pt>
    <dgm:pt modelId="{150D6F88-3B99-415C-8B79-C9D93387ABAD}" type="pres">
      <dgm:prSet presAssocID="{8938C74A-3384-42FC-9C10-05349C0760D9}" presName="hierChild2" presStyleCnt="0"/>
      <dgm:spPr/>
    </dgm:pt>
    <dgm:pt modelId="{EA41A9B7-E171-489F-A4AF-B4F656EE383A}" type="pres">
      <dgm:prSet presAssocID="{A9119468-FE12-4A31-BBAD-5778651B2E5E}" presName="hierRoot1" presStyleCnt="0"/>
      <dgm:spPr/>
    </dgm:pt>
    <dgm:pt modelId="{4E27F874-AE87-4134-9A0C-D6A9F5606C7A}" type="pres">
      <dgm:prSet presAssocID="{A9119468-FE12-4A31-BBAD-5778651B2E5E}" presName="composite" presStyleCnt="0"/>
      <dgm:spPr/>
    </dgm:pt>
    <dgm:pt modelId="{6C74360D-1524-4D29-A6AE-914B745546BB}" type="pres">
      <dgm:prSet presAssocID="{A9119468-FE12-4A31-BBAD-5778651B2E5E}" presName="background" presStyleLbl="node0" presStyleIdx="3" presStyleCnt="4"/>
      <dgm:spPr/>
    </dgm:pt>
    <dgm:pt modelId="{95AE774F-D899-463B-A9D2-D6C416CD7323}" type="pres">
      <dgm:prSet presAssocID="{A9119468-FE12-4A31-BBAD-5778651B2E5E}" presName="text" presStyleLbl="fgAcc0" presStyleIdx="3" presStyleCnt="4">
        <dgm:presLayoutVars>
          <dgm:chPref val="3"/>
        </dgm:presLayoutVars>
      </dgm:prSet>
      <dgm:spPr/>
    </dgm:pt>
    <dgm:pt modelId="{A77E642B-32C5-4A65-81EE-9E5532E155B0}" type="pres">
      <dgm:prSet presAssocID="{A9119468-FE12-4A31-BBAD-5778651B2E5E}" presName="hierChild2" presStyleCnt="0"/>
      <dgm:spPr/>
    </dgm:pt>
  </dgm:ptLst>
  <dgm:cxnLst>
    <dgm:cxn modelId="{4889851D-2F79-49DD-BC54-E650EC94341B}" type="presOf" srcId="{A9119468-FE12-4A31-BBAD-5778651B2E5E}" destId="{95AE774F-D899-463B-A9D2-D6C416CD7323}" srcOrd="0" destOrd="0" presId="urn:microsoft.com/office/officeart/2005/8/layout/hierarchy1"/>
    <dgm:cxn modelId="{8F189B5C-2917-4D6C-B71C-3354A9F7CAE0}" type="presOf" srcId="{7C48EBA9-3CE9-4B99-8D75-016E989CD15C}" destId="{8DE65D8D-10AF-415E-9E3A-80F90C8E0512}" srcOrd="0" destOrd="0" presId="urn:microsoft.com/office/officeart/2005/8/layout/hierarchy1"/>
    <dgm:cxn modelId="{E074CA41-9749-4815-B1FC-05BD9457C323}" srcId="{7C48EBA9-3CE9-4B99-8D75-016E989CD15C}" destId="{144078DE-0AE2-42F0-A1A8-C279DAFD2557}" srcOrd="0" destOrd="0" parTransId="{4E666DFF-9978-46CF-8D85-E3333D66B0D7}" sibTransId="{7042C8BA-06EE-496B-9E29-865C67D02F55}"/>
    <dgm:cxn modelId="{07656E8C-AA63-4D16-B970-0B5BDEC45115}" type="presOf" srcId="{8938C74A-3384-42FC-9C10-05349C0760D9}" destId="{C7B9EA95-BC16-428E-B423-DE18D1622FAF}" srcOrd="0" destOrd="0" presId="urn:microsoft.com/office/officeart/2005/8/layout/hierarchy1"/>
    <dgm:cxn modelId="{AFF180A4-ACD8-43D8-B74A-A32B3479204D}" type="presOf" srcId="{144078DE-0AE2-42F0-A1A8-C279DAFD2557}" destId="{29D4729D-1238-4089-9990-6BD33340D18D}" srcOrd="0" destOrd="0" presId="urn:microsoft.com/office/officeart/2005/8/layout/hierarchy1"/>
    <dgm:cxn modelId="{F6A8B8B9-BC7E-40CD-91FF-5BA28D54F5D3}" srcId="{7C48EBA9-3CE9-4B99-8D75-016E989CD15C}" destId="{215424C8-BB4D-4D0B-AF33-34F9B65C2235}" srcOrd="1" destOrd="0" parTransId="{1407F36F-EA1F-4CA8-83F1-B0184A8BCE4E}" sibTransId="{28FEBD3F-7F01-4364-9497-3DD19F8C04EB}"/>
    <dgm:cxn modelId="{F83921E6-3480-457E-9882-E4EFB027544F}" type="presOf" srcId="{215424C8-BB4D-4D0B-AF33-34F9B65C2235}" destId="{F8E09BEA-6EE1-4FED-9D4C-D7BD1D5E648C}" srcOrd="0" destOrd="0" presId="urn:microsoft.com/office/officeart/2005/8/layout/hierarchy1"/>
    <dgm:cxn modelId="{01CBE7F4-EABF-48CE-975C-E932613F56D2}" srcId="{7C48EBA9-3CE9-4B99-8D75-016E989CD15C}" destId="{A9119468-FE12-4A31-BBAD-5778651B2E5E}" srcOrd="3" destOrd="0" parTransId="{25347CDF-E1AE-4B00-9491-FBF442265260}" sibTransId="{CA998EF0-2ED0-498E-B9DD-8330A4CB1222}"/>
    <dgm:cxn modelId="{B87919FE-5432-4870-AD4B-4A1A2B06E30E}" srcId="{7C48EBA9-3CE9-4B99-8D75-016E989CD15C}" destId="{8938C74A-3384-42FC-9C10-05349C0760D9}" srcOrd="2" destOrd="0" parTransId="{6CBA54FC-5D8A-4763-9469-87B4C5FCEBA8}" sibTransId="{1C4D9ED4-ED5D-426D-81E3-CBA28DCF7096}"/>
    <dgm:cxn modelId="{A867BAB7-E7D4-45DC-ADC7-DB6D3EE88C6F}" type="presParOf" srcId="{8DE65D8D-10AF-415E-9E3A-80F90C8E0512}" destId="{A4D5294C-131F-42D9-8E9A-46E167C2DAF7}" srcOrd="0" destOrd="0" presId="urn:microsoft.com/office/officeart/2005/8/layout/hierarchy1"/>
    <dgm:cxn modelId="{8D46C871-8BC2-4A04-A175-F66599A94792}" type="presParOf" srcId="{A4D5294C-131F-42D9-8E9A-46E167C2DAF7}" destId="{A0AD9582-C56A-4918-B714-112FE23FE350}" srcOrd="0" destOrd="0" presId="urn:microsoft.com/office/officeart/2005/8/layout/hierarchy1"/>
    <dgm:cxn modelId="{4E207A2B-F0E8-4DB4-B76C-A687F05C94E8}" type="presParOf" srcId="{A0AD9582-C56A-4918-B714-112FE23FE350}" destId="{9F4ABAD1-3AAA-401F-AA92-4A9FA8325DAA}" srcOrd="0" destOrd="0" presId="urn:microsoft.com/office/officeart/2005/8/layout/hierarchy1"/>
    <dgm:cxn modelId="{43EC6975-1623-4FE2-8679-16AC9618D0C9}" type="presParOf" srcId="{A0AD9582-C56A-4918-B714-112FE23FE350}" destId="{29D4729D-1238-4089-9990-6BD33340D18D}" srcOrd="1" destOrd="0" presId="urn:microsoft.com/office/officeart/2005/8/layout/hierarchy1"/>
    <dgm:cxn modelId="{B06C8306-EBE5-4CC5-AC64-3EA007BF15BB}" type="presParOf" srcId="{A4D5294C-131F-42D9-8E9A-46E167C2DAF7}" destId="{68AF4BCF-10FB-4894-8EBB-5B8AFF626C38}" srcOrd="1" destOrd="0" presId="urn:microsoft.com/office/officeart/2005/8/layout/hierarchy1"/>
    <dgm:cxn modelId="{7E130C9E-377F-4D98-A1DC-79B0392B2CBC}" type="presParOf" srcId="{8DE65D8D-10AF-415E-9E3A-80F90C8E0512}" destId="{740B1ACE-30F0-4D05-9516-6D99FF5691E7}" srcOrd="1" destOrd="0" presId="urn:microsoft.com/office/officeart/2005/8/layout/hierarchy1"/>
    <dgm:cxn modelId="{A6FAB3A6-9C35-4C72-A42A-22126CAD5A25}" type="presParOf" srcId="{740B1ACE-30F0-4D05-9516-6D99FF5691E7}" destId="{D86CEC8D-8CDB-4BD7-B7F6-2CCA3874B86A}" srcOrd="0" destOrd="0" presId="urn:microsoft.com/office/officeart/2005/8/layout/hierarchy1"/>
    <dgm:cxn modelId="{53DCB04D-216E-42B9-B2BB-32592A189E6B}" type="presParOf" srcId="{D86CEC8D-8CDB-4BD7-B7F6-2CCA3874B86A}" destId="{F570C64D-CC97-469A-8D93-C85785FBA307}" srcOrd="0" destOrd="0" presId="urn:microsoft.com/office/officeart/2005/8/layout/hierarchy1"/>
    <dgm:cxn modelId="{67B1FD2E-083F-4C57-92AC-F930659BED7A}" type="presParOf" srcId="{D86CEC8D-8CDB-4BD7-B7F6-2CCA3874B86A}" destId="{F8E09BEA-6EE1-4FED-9D4C-D7BD1D5E648C}" srcOrd="1" destOrd="0" presId="urn:microsoft.com/office/officeart/2005/8/layout/hierarchy1"/>
    <dgm:cxn modelId="{21DB8C70-39BB-4885-965B-2FA6317D592C}" type="presParOf" srcId="{740B1ACE-30F0-4D05-9516-6D99FF5691E7}" destId="{4B8F253A-C219-432E-809A-F414FB3C8014}" srcOrd="1" destOrd="0" presId="urn:microsoft.com/office/officeart/2005/8/layout/hierarchy1"/>
    <dgm:cxn modelId="{1E68B6A5-B30D-4221-84E2-28CDAB98F3BF}" type="presParOf" srcId="{8DE65D8D-10AF-415E-9E3A-80F90C8E0512}" destId="{B7B1256F-E9C7-42D4-AAF3-5F2DAC700E3A}" srcOrd="2" destOrd="0" presId="urn:microsoft.com/office/officeart/2005/8/layout/hierarchy1"/>
    <dgm:cxn modelId="{2B85D537-8041-4A17-80EC-FB2DDA8837DD}" type="presParOf" srcId="{B7B1256F-E9C7-42D4-AAF3-5F2DAC700E3A}" destId="{3D2E9889-DAD5-4046-BA61-C521A3259BF2}" srcOrd="0" destOrd="0" presId="urn:microsoft.com/office/officeart/2005/8/layout/hierarchy1"/>
    <dgm:cxn modelId="{5B1B9655-E9DB-4E6A-B86C-2D4C517C8A1B}" type="presParOf" srcId="{3D2E9889-DAD5-4046-BA61-C521A3259BF2}" destId="{557DCAA8-6BAF-48DB-9912-4987EA2E8362}" srcOrd="0" destOrd="0" presId="urn:microsoft.com/office/officeart/2005/8/layout/hierarchy1"/>
    <dgm:cxn modelId="{7437CD63-3F03-4858-A8E5-B927049C1DD9}" type="presParOf" srcId="{3D2E9889-DAD5-4046-BA61-C521A3259BF2}" destId="{C7B9EA95-BC16-428E-B423-DE18D1622FAF}" srcOrd="1" destOrd="0" presId="urn:microsoft.com/office/officeart/2005/8/layout/hierarchy1"/>
    <dgm:cxn modelId="{5529810B-400D-492F-91D3-CC3D192781AD}" type="presParOf" srcId="{B7B1256F-E9C7-42D4-AAF3-5F2DAC700E3A}" destId="{150D6F88-3B99-415C-8B79-C9D93387ABAD}" srcOrd="1" destOrd="0" presId="urn:microsoft.com/office/officeart/2005/8/layout/hierarchy1"/>
    <dgm:cxn modelId="{76E6BAB3-F9C4-4224-B3B2-9B0C319E1B77}" type="presParOf" srcId="{8DE65D8D-10AF-415E-9E3A-80F90C8E0512}" destId="{EA41A9B7-E171-489F-A4AF-B4F656EE383A}" srcOrd="3" destOrd="0" presId="urn:microsoft.com/office/officeart/2005/8/layout/hierarchy1"/>
    <dgm:cxn modelId="{4BF00567-573D-43CD-86C0-BB325F9B6A85}" type="presParOf" srcId="{EA41A9B7-E171-489F-A4AF-B4F656EE383A}" destId="{4E27F874-AE87-4134-9A0C-D6A9F5606C7A}" srcOrd="0" destOrd="0" presId="urn:microsoft.com/office/officeart/2005/8/layout/hierarchy1"/>
    <dgm:cxn modelId="{7479C22C-BDBA-4012-96E7-B4C512974CE3}" type="presParOf" srcId="{4E27F874-AE87-4134-9A0C-D6A9F5606C7A}" destId="{6C74360D-1524-4D29-A6AE-914B745546BB}" srcOrd="0" destOrd="0" presId="urn:microsoft.com/office/officeart/2005/8/layout/hierarchy1"/>
    <dgm:cxn modelId="{5FDD107F-2718-44C8-8F13-15EEE7C31C0A}" type="presParOf" srcId="{4E27F874-AE87-4134-9A0C-D6A9F5606C7A}" destId="{95AE774F-D899-463B-A9D2-D6C416CD7323}" srcOrd="1" destOrd="0" presId="urn:microsoft.com/office/officeart/2005/8/layout/hierarchy1"/>
    <dgm:cxn modelId="{6E342929-EB82-442E-837D-B1858C4CE7C0}" type="presParOf" srcId="{EA41A9B7-E171-489F-A4AF-B4F656EE383A}" destId="{A77E642B-32C5-4A65-81EE-9E5532E155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288A0A-C7D4-46EB-B6D1-99F4928B10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FCD530-F442-4AFB-99C5-B20E71E64BCC}">
      <dgm:prSet/>
      <dgm:spPr/>
      <dgm:t>
        <a:bodyPr/>
        <a:lstStyle/>
        <a:p>
          <a:r>
            <a:rPr lang="fr-FR"/>
            <a:t>WERIO World Happiness Report</a:t>
          </a:r>
          <a:endParaRPr lang="en-US"/>
        </a:p>
      </dgm:t>
    </dgm:pt>
    <dgm:pt modelId="{07C20E5F-BF66-4EEC-B773-279009D6424E}" type="parTrans" cxnId="{61B5A3CA-C1C2-4E44-8A2F-964481C495DE}">
      <dgm:prSet/>
      <dgm:spPr/>
      <dgm:t>
        <a:bodyPr/>
        <a:lstStyle/>
        <a:p>
          <a:endParaRPr lang="en-US"/>
        </a:p>
      </dgm:t>
    </dgm:pt>
    <dgm:pt modelId="{F1192F80-C3FE-404B-8E5E-61A949584E8D}" type="sibTrans" cxnId="{61B5A3CA-C1C2-4E44-8A2F-964481C495DE}">
      <dgm:prSet/>
      <dgm:spPr/>
      <dgm:t>
        <a:bodyPr/>
        <a:lstStyle/>
        <a:p>
          <a:endParaRPr lang="en-US"/>
        </a:p>
      </dgm:t>
    </dgm:pt>
    <dgm:pt modelId="{57CD4A3D-BC29-4CFC-AEA8-0BCF2CA64010}">
      <dgm:prSet/>
      <dgm:spPr/>
      <dgm:t>
        <a:bodyPr/>
        <a:lstStyle/>
        <a:p>
          <a:r>
            <a:rPr lang="fr-FR"/>
            <a:t>Diener &amp; Seligman (2004)</a:t>
          </a:r>
          <a:endParaRPr lang="en-US"/>
        </a:p>
      </dgm:t>
    </dgm:pt>
    <dgm:pt modelId="{CA8E81D2-E22E-4024-8F9D-A7C69BC48583}" type="parTrans" cxnId="{749994FC-23F8-45DF-91B1-4C294036AE9C}">
      <dgm:prSet/>
      <dgm:spPr/>
      <dgm:t>
        <a:bodyPr/>
        <a:lstStyle/>
        <a:p>
          <a:endParaRPr lang="en-US"/>
        </a:p>
      </dgm:t>
    </dgm:pt>
    <dgm:pt modelId="{26805FA7-28B0-44CA-8021-DBF2E032FD62}" type="sibTrans" cxnId="{749994FC-23F8-45DF-91B1-4C294036AE9C}">
      <dgm:prSet/>
      <dgm:spPr/>
      <dgm:t>
        <a:bodyPr/>
        <a:lstStyle/>
        <a:p>
          <a:endParaRPr lang="en-US"/>
        </a:p>
      </dgm:t>
    </dgm:pt>
    <dgm:pt modelId="{9D066BC6-C254-45CF-A606-58A3C06D334A}">
      <dgm:prSet/>
      <dgm:spPr/>
      <dgm:t>
        <a:bodyPr/>
        <a:lstStyle/>
        <a:p>
          <a:r>
            <a:rPr lang="fr-FR"/>
            <a:t>Kahneman &amp; Deaton (2010)</a:t>
          </a:r>
          <a:endParaRPr lang="en-US"/>
        </a:p>
      </dgm:t>
    </dgm:pt>
    <dgm:pt modelId="{E5F28F4E-2F33-4287-8E6E-B4EE62B24E9F}" type="parTrans" cxnId="{8C778BC0-0BAE-4F74-81DC-A66148A182C7}">
      <dgm:prSet/>
      <dgm:spPr/>
      <dgm:t>
        <a:bodyPr/>
        <a:lstStyle/>
        <a:p>
          <a:endParaRPr lang="en-US"/>
        </a:p>
      </dgm:t>
    </dgm:pt>
    <dgm:pt modelId="{8E6BE404-3277-414D-AACD-4B960F69CCEC}" type="sibTrans" cxnId="{8C778BC0-0BAE-4F74-81DC-A66148A182C7}">
      <dgm:prSet/>
      <dgm:spPr/>
      <dgm:t>
        <a:bodyPr/>
        <a:lstStyle/>
        <a:p>
          <a:endParaRPr lang="en-US"/>
        </a:p>
      </dgm:t>
    </dgm:pt>
    <dgm:pt modelId="{576644D3-FA86-4459-8B5E-35BB92A28A36}">
      <dgm:prSet/>
      <dgm:spPr/>
      <dgm:t>
        <a:bodyPr/>
        <a:lstStyle/>
        <a:p>
          <a:r>
            <a:rPr lang="fr-FR"/>
            <a:t>Inglehart et al. (2008)</a:t>
          </a:r>
          <a:endParaRPr lang="en-US"/>
        </a:p>
      </dgm:t>
    </dgm:pt>
    <dgm:pt modelId="{CBD0BE37-40C0-4843-97AD-16BAC9651897}" type="parTrans" cxnId="{8374B032-53D2-48B0-B67D-583BE0001398}">
      <dgm:prSet/>
      <dgm:spPr/>
      <dgm:t>
        <a:bodyPr/>
        <a:lstStyle/>
        <a:p>
          <a:endParaRPr lang="en-US"/>
        </a:p>
      </dgm:t>
    </dgm:pt>
    <dgm:pt modelId="{7C386C23-2301-4C1D-8368-8897F5C064F7}" type="sibTrans" cxnId="{8374B032-53D2-48B0-B67D-583BE0001398}">
      <dgm:prSet/>
      <dgm:spPr/>
      <dgm:t>
        <a:bodyPr/>
        <a:lstStyle/>
        <a:p>
          <a:endParaRPr lang="en-US"/>
        </a:p>
      </dgm:t>
    </dgm:pt>
    <dgm:pt modelId="{C6508E52-6A16-4CCE-A6B2-A3550108CE18}">
      <dgm:prSet/>
      <dgm:spPr/>
      <dgm:t>
        <a:bodyPr/>
        <a:lstStyle/>
        <a:p>
          <a:r>
            <a:rPr lang="fr-FR"/>
            <a:t>Easterlin et al. (2010)</a:t>
          </a:r>
          <a:endParaRPr lang="en-US"/>
        </a:p>
      </dgm:t>
    </dgm:pt>
    <dgm:pt modelId="{BF450657-E6B2-4FD5-A485-FB0A8163614C}" type="parTrans" cxnId="{5AA3AEB8-676D-4DA6-8535-790AFD2F78A7}">
      <dgm:prSet/>
      <dgm:spPr/>
      <dgm:t>
        <a:bodyPr/>
        <a:lstStyle/>
        <a:p>
          <a:endParaRPr lang="en-US"/>
        </a:p>
      </dgm:t>
    </dgm:pt>
    <dgm:pt modelId="{A8F85164-D620-4AA8-9D3F-8937EC55237D}" type="sibTrans" cxnId="{5AA3AEB8-676D-4DA6-8535-790AFD2F78A7}">
      <dgm:prSet/>
      <dgm:spPr/>
      <dgm:t>
        <a:bodyPr/>
        <a:lstStyle/>
        <a:p>
          <a:endParaRPr lang="en-US"/>
        </a:p>
      </dgm:t>
    </dgm:pt>
    <dgm:pt modelId="{25BB7042-EC61-457B-BAEC-232E4BE678D2}" type="pres">
      <dgm:prSet presAssocID="{D3288A0A-C7D4-46EB-B6D1-99F4928B10CC}" presName="linear" presStyleCnt="0">
        <dgm:presLayoutVars>
          <dgm:animLvl val="lvl"/>
          <dgm:resizeHandles val="exact"/>
        </dgm:presLayoutVars>
      </dgm:prSet>
      <dgm:spPr/>
    </dgm:pt>
    <dgm:pt modelId="{A823695A-5455-4E0A-AA44-A152DC3371FF}" type="pres">
      <dgm:prSet presAssocID="{9EFCD530-F442-4AFB-99C5-B20E71E64BC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5F183B9-65EA-45FF-A73E-DB6AADD09AFB}" type="pres">
      <dgm:prSet presAssocID="{F1192F80-C3FE-404B-8E5E-61A949584E8D}" presName="spacer" presStyleCnt="0"/>
      <dgm:spPr/>
    </dgm:pt>
    <dgm:pt modelId="{C8ABA7BE-DCCC-4B1C-A555-A695A1DFBB84}" type="pres">
      <dgm:prSet presAssocID="{57CD4A3D-BC29-4CFC-AEA8-0BCF2CA6401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47299BA-C7DB-4331-BC2D-D9A6E8309D54}" type="pres">
      <dgm:prSet presAssocID="{26805FA7-28B0-44CA-8021-DBF2E032FD62}" presName="spacer" presStyleCnt="0"/>
      <dgm:spPr/>
    </dgm:pt>
    <dgm:pt modelId="{9A7632F4-D842-478B-B72E-49A59EED6495}" type="pres">
      <dgm:prSet presAssocID="{9D066BC6-C254-45CF-A606-58A3C06D334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0A5BBD-9A20-4CD1-BF24-D17FF29B02EE}" type="pres">
      <dgm:prSet presAssocID="{8E6BE404-3277-414D-AACD-4B960F69CCEC}" presName="spacer" presStyleCnt="0"/>
      <dgm:spPr/>
    </dgm:pt>
    <dgm:pt modelId="{93DCCDED-A58D-4105-A14E-544AB0075456}" type="pres">
      <dgm:prSet presAssocID="{576644D3-FA86-4459-8B5E-35BB92A28A3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AFDBE24-C423-4940-9111-EB15E677AF30}" type="pres">
      <dgm:prSet presAssocID="{7C386C23-2301-4C1D-8368-8897F5C064F7}" presName="spacer" presStyleCnt="0"/>
      <dgm:spPr/>
    </dgm:pt>
    <dgm:pt modelId="{F630D832-464C-44C6-B219-D1DB1028EA25}" type="pres">
      <dgm:prSet presAssocID="{C6508E52-6A16-4CCE-A6B2-A3550108CE1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374B032-53D2-48B0-B67D-583BE0001398}" srcId="{D3288A0A-C7D4-46EB-B6D1-99F4928B10CC}" destId="{576644D3-FA86-4459-8B5E-35BB92A28A36}" srcOrd="3" destOrd="0" parTransId="{CBD0BE37-40C0-4843-97AD-16BAC9651897}" sibTransId="{7C386C23-2301-4C1D-8368-8897F5C064F7}"/>
    <dgm:cxn modelId="{7A8DBC6D-8E72-47C7-B807-3C1B3994AFCA}" type="presOf" srcId="{C6508E52-6A16-4CCE-A6B2-A3550108CE18}" destId="{F630D832-464C-44C6-B219-D1DB1028EA25}" srcOrd="0" destOrd="0" presId="urn:microsoft.com/office/officeart/2005/8/layout/vList2"/>
    <dgm:cxn modelId="{2500A36E-BE9C-451B-8A40-24C5DDDF67A1}" type="presOf" srcId="{9EFCD530-F442-4AFB-99C5-B20E71E64BCC}" destId="{A823695A-5455-4E0A-AA44-A152DC3371FF}" srcOrd="0" destOrd="0" presId="urn:microsoft.com/office/officeart/2005/8/layout/vList2"/>
    <dgm:cxn modelId="{39A8CB4F-1E79-4E22-BC5D-48E7AD9423D0}" type="presOf" srcId="{57CD4A3D-BC29-4CFC-AEA8-0BCF2CA64010}" destId="{C8ABA7BE-DCCC-4B1C-A555-A695A1DFBB84}" srcOrd="0" destOrd="0" presId="urn:microsoft.com/office/officeart/2005/8/layout/vList2"/>
    <dgm:cxn modelId="{61FE6E78-A56F-4F92-8CE5-3E9089C6B68E}" type="presOf" srcId="{D3288A0A-C7D4-46EB-B6D1-99F4928B10CC}" destId="{25BB7042-EC61-457B-BAEC-232E4BE678D2}" srcOrd="0" destOrd="0" presId="urn:microsoft.com/office/officeart/2005/8/layout/vList2"/>
    <dgm:cxn modelId="{FCF24EAD-49C7-433F-9D13-BE6DA96C9AD2}" type="presOf" srcId="{9D066BC6-C254-45CF-A606-58A3C06D334A}" destId="{9A7632F4-D842-478B-B72E-49A59EED6495}" srcOrd="0" destOrd="0" presId="urn:microsoft.com/office/officeart/2005/8/layout/vList2"/>
    <dgm:cxn modelId="{5AA3AEB8-676D-4DA6-8535-790AFD2F78A7}" srcId="{D3288A0A-C7D4-46EB-B6D1-99F4928B10CC}" destId="{C6508E52-6A16-4CCE-A6B2-A3550108CE18}" srcOrd="4" destOrd="0" parTransId="{BF450657-E6B2-4FD5-A485-FB0A8163614C}" sibTransId="{A8F85164-D620-4AA8-9D3F-8937EC55237D}"/>
    <dgm:cxn modelId="{8C778BC0-0BAE-4F74-81DC-A66148A182C7}" srcId="{D3288A0A-C7D4-46EB-B6D1-99F4928B10CC}" destId="{9D066BC6-C254-45CF-A606-58A3C06D334A}" srcOrd="2" destOrd="0" parTransId="{E5F28F4E-2F33-4287-8E6E-B4EE62B24E9F}" sibTransId="{8E6BE404-3277-414D-AACD-4B960F69CCEC}"/>
    <dgm:cxn modelId="{61B5A3CA-C1C2-4E44-8A2F-964481C495DE}" srcId="{D3288A0A-C7D4-46EB-B6D1-99F4928B10CC}" destId="{9EFCD530-F442-4AFB-99C5-B20E71E64BCC}" srcOrd="0" destOrd="0" parTransId="{07C20E5F-BF66-4EEC-B773-279009D6424E}" sibTransId="{F1192F80-C3FE-404B-8E5E-61A949584E8D}"/>
    <dgm:cxn modelId="{7DC460E2-0478-423B-8CCE-A011C694A750}" type="presOf" srcId="{576644D3-FA86-4459-8B5E-35BB92A28A36}" destId="{93DCCDED-A58D-4105-A14E-544AB0075456}" srcOrd="0" destOrd="0" presId="urn:microsoft.com/office/officeart/2005/8/layout/vList2"/>
    <dgm:cxn modelId="{749994FC-23F8-45DF-91B1-4C294036AE9C}" srcId="{D3288A0A-C7D4-46EB-B6D1-99F4928B10CC}" destId="{57CD4A3D-BC29-4CFC-AEA8-0BCF2CA64010}" srcOrd="1" destOrd="0" parTransId="{CA8E81D2-E22E-4024-8F9D-A7C69BC48583}" sibTransId="{26805FA7-28B0-44CA-8021-DBF2E032FD62}"/>
    <dgm:cxn modelId="{80FBA49C-9004-483D-91B8-A3FF359CD13D}" type="presParOf" srcId="{25BB7042-EC61-457B-BAEC-232E4BE678D2}" destId="{A823695A-5455-4E0A-AA44-A152DC3371FF}" srcOrd="0" destOrd="0" presId="urn:microsoft.com/office/officeart/2005/8/layout/vList2"/>
    <dgm:cxn modelId="{14F5A426-171E-4708-97FD-BC3FDCFC1A8D}" type="presParOf" srcId="{25BB7042-EC61-457B-BAEC-232E4BE678D2}" destId="{C5F183B9-65EA-45FF-A73E-DB6AADD09AFB}" srcOrd="1" destOrd="0" presId="urn:microsoft.com/office/officeart/2005/8/layout/vList2"/>
    <dgm:cxn modelId="{4721418F-ABBE-4F4C-AFB3-05910B511C8D}" type="presParOf" srcId="{25BB7042-EC61-457B-BAEC-232E4BE678D2}" destId="{C8ABA7BE-DCCC-4B1C-A555-A695A1DFBB84}" srcOrd="2" destOrd="0" presId="urn:microsoft.com/office/officeart/2005/8/layout/vList2"/>
    <dgm:cxn modelId="{50639066-C755-4C51-AD6C-019D1C28C575}" type="presParOf" srcId="{25BB7042-EC61-457B-BAEC-232E4BE678D2}" destId="{747299BA-C7DB-4331-BC2D-D9A6E8309D54}" srcOrd="3" destOrd="0" presId="urn:microsoft.com/office/officeart/2005/8/layout/vList2"/>
    <dgm:cxn modelId="{E6328B9C-910B-4F3A-AA0E-9FA7E81CBAC4}" type="presParOf" srcId="{25BB7042-EC61-457B-BAEC-232E4BE678D2}" destId="{9A7632F4-D842-478B-B72E-49A59EED6495}" srcOrd="4" destOrd="0" presId="urn:microsoft.com/office/officeart/2005/8/layout/vList2"/>
    <dgm:cxn modelId="{1690416C-449B-4B0E-A85B-1F0AB2C24FCE}" type="presParOf" srcId="{25BB7042-EC61-457B-BAEC-232E4BE678D2}" destId="{960A5BBD-9A20-4CD1-BF24-D17FF29B02EE}" srcOrd="5" destOrd="0" presId="urn:microsoft.com/office/officeart/2005/8/layout/vList2"/>
    <dgm:cxn modelId="{4769AA97-7FFC-4D36-946B-60429CCBD3AA}" type="presParOf" srcId="{25BB7042-EC61-457B-BAEC-232E4BE678D2}" destId="{93DCCDED-A58D-4105-A14E-544AB0075456}" srcOrd="6" destOrd="0" presId="urn:microsoft.com/office/officeart/2005/8/layout/vList2"/>
    <dgm:cxn modelId="{1F6CC2FF-3BE6-4A5C-B4DF-62D6A172EC51}" type="presParOf" srcId="{25BB7042-EC61-457B-BAEC-232E4BE678D2}" destId="{FAFDBE24-C423-4940-9111-EB15E677AF30}" srcOrd="7" destOrd="0" presId="urn:microsoft.com/office/officeart/2005/8/layout/vList2"/>
    <dgm:cxn modelId="{FAFB038E-D993-4762-9C90-71FABB086577}" type="presParOf" srcId="{25BB7042-EC61-457B-BAEC-232E4BE678D2}" destId="{F630D832-464C-44C6-B219-D1DB1028EA2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A80FE-D35F-4B42-9FE1-3D072F7EAA41}">
      <dsp:nvSpPr>
        <dsp:cNvPr id="0" name=""/>
        <dsp:cNvSpPr/>
      </dsp:nvSpPr>
      <dsp:spPr>
        <a:xfrm>
          <a:off x="0" y="0"/>
          <a:ext cx="8823960" cy="8092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Le World Happiness Report évalue le bonheur mondial à travers divers critères socio-économiques et sociétaux.</a:t>
          </a:r>
          <a:endParaRPr lang="en-US" sz="2200" kern="1200"/>
        </a:p>
      </dsp:txBody>
      <dsp:txXfrm>
        <a:off x="23701" y="23701"/>
        <a:ext cx="7882378" cy="761810"/>
      </dsp:txXfrm>
    </dsp:sp>
    <dsp:sp modelId="{B7AEC2BE-0638-4F2B-8707-02FA595D9ADD}">
      <dsp:nvSpPr>
        <dsp:cNvPr id="0" name=""/>
        <dsp:cNvSpPr/>
      </dsp:nvSpPr>
      <dsp:spPr>
        <a:xfrm>
          <a:off x="739006" y="956341"/>
          <a:ext cx="8823960" cy="8092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Il est basé sur des enquêtes comme Gallup World </a:t>
          </a:r>
          <a:r>
            <a:rPr lang="fr-FR" sz="2200" kern="1200" dirty="0" err="1"/>
            <a:t>Poll</a:t>
          </a:r>
          <a:r>
            <a:rPr lang="fr-FR" sz="2200" kern="1200" dirty="0"/>
            <a:t> et l'échelle de </a:t>
          </a:r>
          <a:r>
            <a:rPr lang="fr-FR" sz="2200" kern="1200" dirty="0" err="1"/>
            <a:t>Cantril</a:t>
          </a:r>
          <a:r>
            <a:rPr lang="fr-FR" sz="2200" kern="1200" dirty="0"/>
            <a:t>.</a:t>
          </a:r>
          <a:endParaRPr lang="en-US" sz="2200" kern="1200" dirty="0"/>
        </a:p>
      </dsp:txBody>
      <dsp:txXfrm>
        <a:off x="762707" y="980042"/>
        <a:ext cx="7511563" cy="761810"/>
      </dsp:txXfrm>
    </dsp:sp>
    <dsp:sp modelId="{EFA09DBA-9817-48B6-B06B-480E2F2A1192}">
      <dsp:nvSpPr>
        <dsp:cNvPr id="0" name=""/>
        <dsp:cNvSpPr/>
      </dsp:nvSpPr>
      <dsp:spPr>
        <a:xfrm>
          <a:off x="1466983" y="1912683"/>
          <a:ext cx="8823960" cy="8092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Son objectif est de fournir des insights pour améliorer les politiques publiques et le bien-être des populations.</a:t>
          </a:r>
          <a:endParaRPr lang="en-US" sz="2200" kern="1200" dirty="0"/>
        </a:p>
      </dsp:txBody>
      <dsp:txXfrm>
        <a:off x="1490684" y="1936384"/>
        <a:ext cx="7522593" cy="761810"/>
      </dsp:txXfrm>
    </dsp:sp>
    <dsp:sp modelId="{C4EAFEDD-9CD5-4AA8-B29B-C22E82A41DDA}">
      <dsp:nvSpPr>
        <dsp:cNvPr id="0" name=""/>
        <dsp:cNvSpPr/>
      </dsp:nvSpPr>
      <dsp:spPr>
        <a:xfrm>
          <a:off x="2205989" y="2869025"/>
          <a:ext cx="8823960" cy="80921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Ce rapport est essentiel pour comprendre les facteurs influençant le bien-être des populations.</a:t>
          </a:r>
          <a:endParaRPr lang="en-US" sz="2200" kern="1200" dirty="0"/>
        </a:p>
      </dsp:txBody>
      <dsp:txXfrm>
        <a:off x="2229690" y="2892726"/>
        <a:ext cx="7511563" cy="761810"/>
      </dsp:txXfrm>
    </dsp:sp>
    <dsp:sp modelId="{94DF5199-A92C-47D9-8823-ACC11CBAF61D}">
      <dsp:nvSpPr>
        <dsp:cNvPr id="0" name=""/>
        <dsp:cNvSpPr/>
      </dsp:nvSpPr>
      <dsp:spPr>
        <a:xfrm>
          <a:off x="8297971" y="619783"/>
          <a:ext cx="525988" cy="52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416318" y="619783"/>
        <a:ext cx="289294" cy="395806"/>
      </dsp:txXfrm>
    </dsp:sp>
    <dsp:sp modelId="{BC28EB01-2F24-4536-AE74-9084231DD9D9}">
      <dsp:nvSpPr>
        <dsp:cNvPr id="0" name=""/>
        <dsp:cNvSpPr/>
      </dsp:nvSpPr>
      <dsp:spPr>
        <a:xfrm>
          <a:off x="9036978" y="1576124"/>
          <a:ext cx="525988" cy="52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155325" y="1576124"/>
        <a:ext cx="289294" cy="395806"/>
      </dsp:txXfrm>
    </dsp:sp>
    <dsp:sp modelId="{D8E87554-3AA3-431F-B1F5-320215234614}">
      <dsp:nvSpPr>
        <dsp:cNvPr id="0" name=""/>
        <dsp:cNvSpPr/>
      </dsp:nvSpPr>
      <dsp:spPr>
        <a:xfrm>
          <a:off x="9764955" y="2532466"/>
          <a:ext cx="525988" cy="52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883302" y="2532466"/>
        <a:ext cx="289294" cy="3958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874EC-9480-4F84-B17A-F52422F6968F}">
      <dsp:nvSpPr>
        <dsp:cNvPr id="0" name=""/>
        <dsp:cNvSpPr/>
      </dsp:nvSpPr>
      <dsp:spPr>
        <a:xfrm>
          <a:off x="99495" y="201001"/>
          <a:ext cx="902007" cy="9020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892B8-FB84-4706-B48F-E8B6E16C077C}">
      <dsp:nvSpPr>
        <dsp:cNvPr id="0" name=""/>
        <dsp:cNvSpPr/>
      </dsp:nvSpPr>
      <dsp:spPr>
        <a:xfrm>
          <a:off x="288916" y="390423"/>
          <a:ext cx="523164" cy="523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FF5E1-22C7-4CD6-8855-06872862A074}">
      <dsp:nvSpPr>
        <dsp:cNvPr id="0" name=""/>
        <dsp:cNvSpPr/>
      </dsp:nvSpPr>
      <dsp:spPr>
        <a:xfrm>
          <a:off x="1194790" y="201001"/>
          <a:ext cx="2126160" cy="902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/>
            <a:t>Happiness Score</a:t>
          </a:r>
          <a:r>
            <a:rPr lang="fr-FR" sz="1300" kern="1200"/>
            <a:t> : Mesure du bien-être subjectif sur une échelle de 0 à 10, reflétant la satisfaction de vie.</a:t>
          </a:r>
          <a:endParaRPr lang="en-US" sz="1300" kern="1200"/>
        </a:p>
      </dsp:txBody>
      <dsp:txXfrm>
        <a:off x="1194790" y="201001"/>
        <a:ext cx="2126160" cy="902007"/>
      </dsp:txXfrm>
    </dsp:sp>
    <dsp:sp modelId="{5DE61630-D65D-438A-8AA9-AE0E56C4F32C}">
      <dsp:nvSpPr>
        <dsp:cNvPr id="0" name=""/>
        <dsp:cNvSpPr/>
      </dsp:nvSpPr>
      <dsp:spPr>
        <a:xfrm>
          <a:off x="3691418" y="201001"/>
          <a:ext cx="902007" cy="9020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5B46B-8A32-4146-90CC-738FD1FF387F}">
      <dsp:nvSpPr>
        <dsp:cNvPr id="0" name=""/>
        <dsp:cNvSpPr/>
      </dsp:nvSpPr>
      <dsp:spPr>
        <a:xfrm>
          <a:off x="3880840" y="390423"/>
          <a:ext cx="523164" cy="523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990FD-25BF-4220-B2E7-9C5037E22F26}">
      <dsp:nvSpPr>
        <dsp:cNvPr id="0" name=""/>
        <dsp:cNvSpPr/>
      </dsp:nvSpPr>
      <dsp:spPr>
        <a:xfrm>
          <a:off x="4786713" y="201001"/>
          <a:ext cx="2126160" cy="902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/>
            <a:t>PIB par habitant</a:t>
          </a:r>
          <a:r>
            <a:rPr lang="fr-FR" sz="1300" kern="1200"/>
            <a:t> : Indicateur économique mesurant la richesse moyenne par personne, influençant le niveau de vie.</a:t>
          </a:r>
          <a:endParaRPr lang="en-US" sz="1300" kern="1200"/>
        </a:p>
      </dsp:txBody>
      <dsp:txXfrm>
        <a:off x="4786713" y="201001"/>
        <a:ext cx="2126160" cy="902007"/>
      </dsp:txXfrm>
    </dsp:sp>
    <dsp:sp modelId="{9A313322-D222-4A4E-9DAD-08E5C362660D}">
      <dsp:nvSpPr>
        <dsp:cNvPr id="0" name=""/>
        <dsp:cNvSpPr/>
      </dsp:nvSpPr>
      <dsp:spPr>
        <a:xfrm>
          <a:off x="99495" y="1903561"/>
          <a:ext cx="902007" cy="90200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27A6C-CA2F-41FE-AD6C-C777A7D2B975}">
      <dsp:nvSpPr>
        <dsp:cNvPr id="0" name=""/>
        <dsp:cNvSpPr/>
      </dsp:nvSpPr>
      <dsp:spPr>
        <a:xfrm>
          <a:off x="288916" y="2092983"/>
          <a:ext cx="523164" cy="523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BF32F-63B9-4EFD-8606-A886BD2436BE}">
      <dsp:nvSpPr>
        <dsp:cNvPr id="0" name=""/>
        <dsp:cNvSpPr/>
      </dsp:nvSpPr>
      <dsp:spPr>
        <a:xfrm>
          <a:off x="1194790" y="1903561"/>
          <a:ext cx="2126160" cy="902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/>
            <a:t>Soutien social</a:t>
          </a:r>
          <a:r>
            <a:rPr lang="fr-FR" sz="1300" kern="1200"/>
            <a:t> : Évalue la capacité à compter sur des proches en cas de besoin, crucial pour le bien-être.</a:t>
          </a:r>
          <a:endParaRPr lang="en-US" sz="1300" kern="1200"/>
        </a:p>
      </dsp:txBody>
      <dsp:txXfrm>
        <a:off x="1194790" y="1903561"/>
        <a:ext cx="2126160" cy="902007"/>
      </dsp:txXfrm>
    </dsp:sp>
    <dsp:sp modelId="{BCA13D24-68BB-4D61-AF6C-AD1B7B11CD20}">
      <dsp:nvSpPr>
        <dsp:cNvPr id="0" name=""/>
        <dsp:cNvSpPr/>
      </dsp:nvSpPr>
      <dsp:spPr>
        <a:xfrm>
          <a:off x="3691418" y="1903561"/>
          <a:ext cx="902007" cy="90200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B1B6D-41C1-439D-819C-720159D81E3A}">
      <dsp:nvSpPr>
        <dsp:cNvPr id="0" name=""/>
        <dsp:cNvSpPr/>
      </dsp:nvSpPr>
      <dsp:spPr>
        <a:xfrm>
          <a:off x="3880840" y="2092983"/>
          <a:ext cx="523164" cy="5231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E353F-80D9-42D2-827E-E5F9D7ADB26F}">
      <dsp:nvSpPr>
        <dsp:cNvPr id="0" name=""/>
        <dsp:cNvSpPr/>
      </dsp:nvSpPr>
      <dsp:spPr>
        <a:xfrm>
          <a:off x="4786713" y="1903561"/>
          <a:ext cx="2126160" cy="902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/>
            <a:t>Espérance de vie</a:t>
          </a:r>
          <a:r>
            <a:rPr lang="fr-FR" sz="1300" kern="1200"/>
            <a:t> : Durée moyenne de vie en bonne santé, indicateur clé de la qualité de vie et des soins de santé.</a:t>
          </a:r>
          <a:endParaRPr lang="en-US" sz="1300" kern="1200"/>
        </a:p>
      </dsp:txBody>
      <dsp:txXfrm>
        <a:off x="4786713" y="1903561"/>
        <a:ext cx="2126160" cy="902007"/>
      </dsp:txXfrm>
    </dsp:sp>
    <dsp:sp modelId="{D1832277-91F8-477D-B5E9-250BA6CFBEA8}">
      <dsp:nvSpPr>
        <dsp:cNvPr id="0" name=""/>
        <dsp:cNvSpPr/>
      </dsp:nvSpPr>
      <dsp:spPr>
        <a:xfrm>
          <a:off x="99495" y="3606121"/>
          <a:ext cx="902007" cy="90200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239DD-0813-446F-A3BF-485EEC3FA85F}">
      <dsp:nvSpPr>
        <dsp:cNvPr id="0" name=""/>
        <dsp:cNvSpPr/>
      </dsp:nvSpPr>
      <dsp:spPr>
        <a:xfrm>
          <a:off x="288916" y="3795543"/>
          <a:ext cx="523164" cy="5231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DEE13-9250-432E-9E03-BD849312C5F5}">
      <dsp:nvSpPr>
        <dsp:cNvPr id="0" name=""/>
        <dsp:cNvSpPr/>
      </dsp:nvSpPr>
      <dsp:spPr>
        <a:xfrm>
          <a:off x="1194790" y="3606121"/>
          <a:ext cx="2126160" cy="902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/>
            <a:t>Liberté de choix</a:t>
          </a:r>
          <a:r>
            <a:rPr lang="fr-FR" sz="1300" kern="1200"/>
            <a:t> : Mesure du degré de liberté perçue pour prendre des décisions importantes dans sa vie.</a:t>
          </a:r>
          <a:endParaRPr lang="en-US" sz="1300" kern="1200"/>
        </a:p>
      </dsp:txBody>
      <dsp:txXfrm>
        <a:off x="1194790" y="3606121"/>
        <a:ext cx="2126160" cy="902007"/>
      </dsp:txXfrm>
    </dsp:sp>
    <dsp:sp modelId="{D4DD6DB3-A314-4F4B-83F9-493E25BE4EE2}">
      <dsp:nvSpPr>
        <dsp:cNvPr id="0" name=""/>
        <dsp:cNvSpPr/>
      </dsp:nvSpPr>
      <dsp:spPr>
        <a:xfrm>
          <a:off x="3691418" y="3606121"/>
          <a:ext cx="902007" cy="9020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D842D-4B91-4900-8AE3-0CA0F147FD21}">
      <dsp:nvSpPr>
        <dsp:cNvPr id="0" name=""/>
        <dsp:cNvSpPr/>
      </dsp:nvSpPr>
      <dsp:spPr>
        <a:xfrm>
          <a:off x="3880840" y="3795543"/>
          <a:ext cx="523164" cy="52316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35F6E-BD40-4590-AA1F-45FFA67E3292}">
      <dsp:nvSpPr>
        <dsp:cNvPr id="0" name=""/>
        <dsp:cNvSpPr/>
      </dsp:nvSpPr>
      <dsp:spPr>
        <a:xfrm>
          <a:off x="4786713" y="3606121"/>
          <a:ext cx="2126160" cy="902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/>
            <a:t>Perception de la corruption</a:t>
          </a:r>
          <a:r>
            <a:rPr lang="fr-FR" sz="1300" kern="1200"/>
            <a:t> : Évalue la confiance dans les institutions et l'absence de corruption perçue dans la société.</a:t>
          </a:r>
          <a:endParaRPr lang="en-US" sz="1300" kern="1200"/>
        </a:p>
      </dsp:txBody>
      <dsp:txXfrm>
        <a:off x="4786713" y="3606121"/>
        <a:ext cx="2126160" cy="902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ABAD1-3AAA-401F-AA92-4A9FA8325DAA}">
      <dsp:nvSpPr>
        <dsp:cNvPr id="0" name=""/>
        <dsp:cNvSpPr/>
      </dsp:nvSpPr>
      <dsp:spPr>
        <a:xfrm>
          <a:off x="3231" y="984798"/>
          <a:ext cx="2307241" cy="1465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4729D-1238-4089-9990-6BD33340D18D}">
      <dsp:nvSpPr>
        <dsp:cNvPr id="0" name=""/>
        <dsp:cNvSpPr/>
      </dsp:nvSpPr>
      <dsp:spPr>
        <a:xfrm>
          <a:off x="259591" y="1228340"/>
          <a:ext cx="2307241" cy="1465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Résultats : Le soutien social est positivement lié au bonheur, surtout dans les pays nordiques.</a:t>
          </a:r>
          <a:endParaRPr lang="en-US" sz="1700" kern="1200" dirty="0"/>
        </a:p>
      </dsp:txBody>
      <dsp:txXfrm>
        <a:off x="302502" y="1271251"/>
        <a:ext cx="2221419" cy="1379276"/>
      </dsp:txXfrm>
    </dsp:sp>
    <dsp:sp modelId="{F570C64D-CC97-469A-8D93-C85785FBA307}">
      <dsp:nvSpPr>
        <dsp:cNvPr id="0" name=""/>
        <dsp:cNvSpPr/>
      </dsp:nvSpPr>
      <dsp:spPr>
        <a:xfrm>
          <a:off x="2823193" y="984798"/>
          <a:ext cx="2307241" cy="1465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09BEA-6EE1-4FED-9D4C-D7BD1D5E648C}">
      <dsp:nvSpPr>
        <dsp:cNvPr id="0" name=""/>
        <dsp:cNvSpPr/>
      </dsp:nvSpPr>
      <dsp:spPr>
        <a:xfrm>
          <a:off x="3079553" y="1228340"/>
          <a:ext cx="2307241" cy="1465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Variations régionales : Des différences existent selon les régions, influencées par d'autres facteurs.</a:t>
          </a:r>
          <a:endParaRPr lang="en-US" sz="1700" kern="1200"/>
        </a:p>
      </dsp:txBody>
      <dsp:txXfrm>
        <a:off x="3122464" y="1271251"/>
        <a:ext cx="2221419" cy="1379276"/>
      </dsp:txXfrm>
    </dsp:sp>
    <dsp:sp modelId="{557DCAA8-6BAF-48DB-9912-4987EA2E8362}">
      <dsp:nvSpPr>
        <dsp:cNvPr id="0" name=""/>
        <dsp:cNvSpPr/>
      </dsp:nvSpPr>
      <dsp:spPr>
        <a:xfrm>
          <a:off x="5643155" y="984798"/>
          <a:ext cx="2307241" cy="1465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9EA95-BC16-428E-B423-DE18D1622FAF}">
      <dsp:nvSpPr>
        <dsp:cNvPr id="0" name=""/>
        <dsp:cNvSpPr/>
      </dsp:nvSpPr>
      <dsp:spPr>
        <a:xfrm>
          <a:off x="5899515" y="1228340"/>
          <a:ext cx="2307241" cy="1465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Limites : Données manquantes et différences culturelles compliquent l’analyse complète.</a:t>
          </a:r>
          <a:endParaRPr lang="en-US" sz="1700" kern="1200"/>
        </a:p>
      </dsp:txBody>
      <dsp:txXfrm>
        <a:off x="5942426" y="1271251"/>
        <a:ext cx="2221419" cy="1379276"/>
      </dsp:txXfrm>
    </dsp:sp>
    <dsp:sp modelId="{6C74360D-1524-4D29-A6AE-914B745546BB}">
      <dsp:nvSpPr>
        <dsp:cNvPr id="0" name=""/>
        <dsp:cNvSpPr/>
      </dsp:nvSpPr>
      <dsp:spPr>
        <a:xfrm>
          <a:off x="8463116" y="984798"/>
          <a:ext cx="2307241" cy="1465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E774F-D899-463B-A9D2-D6C416CD7323}">
      <dsp:nvSpPr>
        <dsp:cNvPr id="0" name=""/>
        <dsp:cNvSpPr/>
      </dsp:nvSpPr>
      <dsp:spPr>
        <a:xfrm>
          <a:off x="8719477" y="1228340"/>
          <a:ext cx="2307241" cy="1465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Perspectives : Nécessité d'approches qualitatives et de modèles plus complexes pour affiner l’étude.</a:t>
          </a:r>
          <a:endParaRPr lang="en-US" sz="1700" kern="1200"/>
        </a:p>
      </dsp:txBody>
      <dsp:txXfrm>
        <a:off x="8762388" y="1271251"/>
        <a:ext cx="2221419" cy="13792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3695A-5455-4E0A-AA44-A152DC3371FF}">
      <dsp:nvSpPr>
        <dsp:cNvPr id="0" name=""/>
        <dsp:cNvSpPr/>
      </dsp:nvSpPr>
      <dsp:spPr>
        <a:xfrm>
          <a:off x="0" y="741944"/>
          <a:ext cx="485503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WERIO World Happiness Report</a:t>
          </a:r>
          <a:endParaRPr lang="en-US" sz="2600" kern="1200"/>
        </a:p>
      </dsp:txBody>
      <dsp:txXfrm>
        <a:off x="29700" y="771644"/>
        <a:ext cx="4795637" cy="549000"/>
      </dsp:txXfrm>
    </dsp:sp>
    <dsp:sp modelId="{C8ABA7BE-DCCC-4B1C-A555-A695A1DFBB84}">
      <dsp:nvSpPr>
        <dsp:cNvPr id="0" name=""/>
        <dsp:cNvSpPr/>
      </dsp:nvSpPr>
      <dsp:spPr>
        <a:xfrm>
          <a:off x="0" y="1425224"/>
          <a:ext cx="485503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Diener &amp; Seligman (2004)</a:t>
          </a:r>
          <a:endParaRPr lang="en-US" sz="2600" kern="1200"/>
        </a:p>
      </dsp:txBody>
      <dsp:txXfrm>
        <a:off x="29700" y="1454924"/>
        <a:ext cx="4795637" cy="549000"/>
      </dsp:txXfrm>
    </dsp:sp>
    <dsp:sp modelId="{9A7632F4-D842-478B-B72E-49A59EED6495}">
      <dsp:nvSpPr>
        <dsp:cNvPr id="0" name=""/>
        <dsp:cNvSpPr/>
      </dsp:nvSpPr>
      <dsp:spPr>
        <a:xfrm>
          <a:off x="0" y="2108504"/>
          <a:ext cx="485503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Kahneman &amp; Deaton (2010)</a:t>
          </a:r>
          <a:endParaRPr lang="en-US" sz="2600" kern="1200"/>
        </a:p>
      </dsp:txBody>
      <dsp:txXfrm>
        <a:off x="29700" y="2138204"/>
        <a:ext cx="4795637" cy="549000"/>
      </dsp:txXfrm>
    </dsp:sp>
    <dsp:sp modelId="{93DCCDED-A58D-4105-A14E-544AB0075456}">
      <dsp:nvSpPr>
        <dsp:cNvPr id="0" name=""/>
        <dsp:cNvSpPr/>
      </dsp:nvSpPr>
      <dsp:spPr>
        <a:xfrm>
          <a:off x="0" y="2791784"/>
          <a:ext cx="485503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Inglehart et al. (2008)</a:t>
          </a:r>
          <a:endParaRPr lang="en-US" sz="2600" kern="1200"/>
        </a:p>
      </dsp:txBody>
      <dsp:txXfrm>
        <a:off x="29700" y="2821484"/>
        <a:ext cx="4795637" cy="549000"/>
      </dsp:txXfrm>
    </dsp:sp>
    <dsp:sp modelId="{F630D832-464C-44C6-B219-D1DB1028EA25}">
      <dsp:nvSpPr>
        <dsp:cNvPr id="0" name=""/>
        <dsp:cNvSpPr/>
      </dsp:nvSpPr>
      <dsp:spPr>
        <a:xfrm>
          <a:off x="0" y="3475064"/>
          <a:ext cx="485503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Easterlin et al. (2010)</a:t>
          </a:r>
          <a:endParaRPr lang="en-US" sz="2600" kern="1200"/>
        </a:p>
      </dsp:txBody>
      <dsp:txXfrm>
        <a:off x="29700" y="3504764"/>
        <a:ext cx="4795637" cy="54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93D3F-64AD-435F-B3CA-ECCE549D3010}" type="datetimeFigureOut">
              <a:rPr lang="fr-FR" smtClean="0"/>
              <a:t>11/06/2025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C6CB0-51EC-4CBB-BBB8-FCC8C513BC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85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6D279C5-1875-494B-9AEB-AE983DCC9B7C}" type="datetime1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41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F1FE-558C-436F-9729-C14D04CA66A9}" type="datetime1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40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808A974-C83E-4361-BC6D-CB4AA3903CE8}" type="datetime1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30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7E6C-B57A-4760-A6BC-222369937B9E}" type="datetime1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07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C335-534A-472E-95E3-F13F13F33112}" type="datetime1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1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5666-CE19-445E-80A2-DD94239A76B7}" type="datetime1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04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937F-0110-4ACA-92DA-622C43F79526}" type="datetime1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83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C8999B1-90EC-4016-B319-F48DBB587470}" type="datetime1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10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577B-2E46-4310-85E7-03D7FDA29BC8}" type="datetime1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79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9E74-155C-4176-8690-7512D62EFEF0}" type="datetime1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7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E98067C-4041-4DA6-B2B6-71A5CCE306F6}" type="datetime1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06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06EC33A-C1DA-415D-9B5F-A451CF3CA9A6}" type="datetime1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648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Rectangle 2062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pPr algn="ctr"/>
            <a:r>
              <a:rPr lang="fr-FR" sz="2400" dirty="0">
                <a:solidFill>
                  <a:srgbClr val="FFFFFF"/>
                </a:solidFill>
              </a:rPr>
              <a:t>Le Bonheur dans le Monde</a:t>
            </a:r>
          </a:p>
        </p:txBody>
      </p:sp>
      <p:grpSp>
        <p:nvGrpSpPr>
          <p:cNvPr id="2065" name="Group 2058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endParaRPr lang="fr-FR" sz="16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BUT SD – Semestre 2</a:t>
            </a:r>
          </a:p>
          <a:p>
            <a:pPr marL="0" indent="0">
              <a:buNone/>
            </a:pPr>
            <a:endParaRPr lang="fr-FR" sz="16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Présenté par : </a:t>
            </a:r>
          </a:p>
          <a:p>
            <a:pPr marL="0" indent="0"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Fabien Thibout - Mancef </a:t>
            </a:r>
            <a:r>
              <a:rPr lang="fr-FR" sz="1600" dirty="0" err="1">
                <a:solidFill>
                  <a:srgbClr val="FFFFFF"/>
                </a:solidFill>
              </a:rPr>
              <a:t>Heniche</a:t>
            </a:r>
            <a:r>
              <a:rPr lang="fr-FR" sz="1600" dirty="0">
                <a:solidFill>
                  <a:srgbClr val="FFFFFF"/>
                </a:solidFill>
              </a:rPr>
              <a:t> - Thomas Aymard - Yusuf Aslan - Malik </a:t>
            </a:r>
            <a:r>
              <a:rPr lang="fr-FR" sz="1600" dirty="0" err="1">
                <a:solidFill>
                  <a:srgbClr val="FFFFFF"/>
                </a:solidFill>
              </a:rPr>
              <a:t>Bessabis</a:t>
            </a:r>
            <a:r>
              <a:rPr lang="fr-FR" sz="1600" dirty="0">
                <a:solidFill>
                  <a:srgbClr val="FFFFFF"/>
                </a:solidFill>
              </a:rPr>
              <a:t>.</a:t>
            </a:r>
          </a:p>
          <a:p>
            <a:pPr marL="0" indent="0" algn="ctr">
              <a:buNone/>
            </a:pPr>
            <a:endParaRPr lang="fr-FR" sz="16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fr-FR" sz="16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fr-FR" sz="16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fr-FR" sz="900" dirty="0">
                <a:solidFill>
                  <a:srgbClr val="FFFFFF"/>
                </a:solidFill>
              </a:rPr>
              <a:t>Sous l’encadrement de Mr </a:t>
            </a:r>
            <a:r>
              <a:rPr lang="fr-FR" sz="900" dirty="0" err="1">
                <a:solidFill>
                  <a:srgbClr val="FFFFFF"/>
                </a:solidFill>
              </a:rPr>
              <a:t>Lazhar</a:t>
            </a:r>
            <a:r>
              <a:rPr lang="fr-FR" sz="900" dirty="0">
                <a:solidFill>
                  <a:srgbClr val="FFFFFF"/>
                </a:solidFill>
              </a:rPr>
              <a:t> </a:t>
            </a:r>
            <a:r>
              <a:rPr lang="fr-FR" sz="900" dirty="0" err="1">
                <a:solidFill>
                  <a:srgbClr val="FFFFFF"/>
                </a:solidFill>
              </a:rPr>
              <a:t>Labiod</a:t>
            </a:r>
            <a:r>
              <a:rPr lang="fr-FR" sz="900" dirty="0">
                <a:solidFill>
                  <a:srgbClr val="FFFFFF"/>
                </a:solidFill>
              </a:rPr>
              <a:t> et Mr Jose Gregorio Gomez Garcia</a:t>
            </a:r>
          </a:p>
        </p:txBody>
      </p:sp>
      <p:pic>
        <p:nvPicPr>
          <p:cNvPr id="2050" name="Picture 2" descr="Les études sur le bonheur dans le monde">
            <a:extLst>
              <a:ext uri="{FF2B5EF4-FFF2-40B4-BE49-F238E27FC236}">
                <a16:creationId xmlns:a16="http://schemas.microsoft.com/office/drawing/2014/main" id="{A393F07C-D09C-F4A4-A408-5729F4DD4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68800" y="1471409"/>
            <a:ext cx="6866506" cy="391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8A81491-1DCC-51A6-87AD-CF175B68F3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5844209"/>
            <a:ext cx="1224170" cy="1013791"/>
          </a:xfrm>
          <a:prstGeom prst="rect">
            <a:avLst/>
          </a:prstGeom>
        </p:spPr>
      </p:pic>
      <p:pic>
        <p:nvPicPr>
          <p:cNvPr id="5" name="Image 4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BC7B9B51-297E-3A50-6393-E244431C69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5270" y="6154317"/>
            <a:ext cx="1791335" cy="60706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E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504636-5DAA-C13E-F9FD-354B73BB3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41988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F90695-DAF3-1464-B8A7-5F3B93D2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425D8C4-A363-8453-1206-FD7FF00FCC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7" name="Image 6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681A4FAD-BEA6-8D9D-657B-C8440D03A5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fr-FR" sz="3000" dirty="0">
                <a:solidFill>
                  <a:srgbClr val="FFFFFF"/>
                </a:solidFill>
              </a:rPr>
              <a:t>Problématique et attentes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 fontScale="92500" lnSpcReduction="20000"/>
          </a:bodyPr>
          <a:lstStyle/>
          <a:p>
            <a:r>
              <a:rPr lang="fr-FR" b="1" dirty="0"/>
              <a:t>Problématique : </a:t>
            </a:r>
            <a:r>
              <a:rPr lang="fr-FR" i="1" dirty="0"/>
              <a:t>les relations sociales influencent-elles le bonheur, et comment cette influence varie-t-elle selon le milieu géographique et en fonction du temps ?</a:t>
            </a:r>
          </a:p>
          <a:p>
            <a:pPr marL="0" indent="0">
              <a:buNone/>
            </a:pPr>
            <a:endParaRPr lang="fr-FR" i="1" dirty="0"/>
          </a:p>
          <a:p>
            <a:r>
              <a:rPr lang="fr-FR" b="1" dirty="0"/>
              <a:t>Plan / Attentes :</a:t>
            </a:r>
          </a:p>
          <a:p>
            <a:pPr lvl="1"/>
            <a:r>
              <a:rPr lang="fr-FR" dirty="0"/>
              <a:t>Définir les notions de bonheur et de relations sociales.</a:t>
            </a:r>
          </a:p>
          <a:p>
            <a:pPr lvl="1"/>
            <a:r>
              <a:rPr lang="fr-FR" dirty="0"/>
              <a:t>Décrire la base de données et les variables étudiées</a:t>
            </a:r>
          </a:p>
          <a:p>
            <a:pPr lvl="1"/>
            <a:r>
              <a:rPr lang="fr-FR" dirty="0"/>
              <a:t>I - Mesurer l'impact du soutien social sur le bonheur à travers les pays.</a:t>
            </a:r>
          </a:p>
          <a:p>
            <a:pPr lvl="1"/>
            <a:r>
              <a:rPr lang="fr-FR" dirty="0"/>
              <a:t>II - Observer les variations géographiques et culturelles de cette influence.</a:t>
            </a:r>
          </a:p>
          <a:p>
            <a:pPr lvl="1"/>
            <a:r>
              <a:rPr lang="fr-FR" dirty="0"/>
              <a:t>III - Analyser l'évolution de cette influence dans le temps, notamment lors de crises majeures.</a:t>
            </a:r>
          </a:p>
          <a:p>
            <a:pPr lvl="1"/>
            <a:r>
              <a:rPr lang="fr-FR" dirty="0"/>
              <a:t>IV - Comparer l'impact du soutien social avec d'autres facteurs influençant le bonheur.</a:t>
            </a:r>
          </a:p>
          <a:p>
            <a:pPr lvl="1"/>
            <a:r>
              <a:rPr lang="fr-FR" dirty="0"/>
              <a:t>Conclusion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229D9C-E1A3-AEC3-EF89-44792CB6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0A44163-F7FB-234A-620F-0A862E59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7" name="Image 6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DF4D0FAA-AB05-CA4F-E916-201C856E49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98E696-4BBA-46BE-AD86-F7E300B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1363"/>
            <a:ext cx="12191999" cy="6256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B0CA3-C333-4560-9975-E31D1B7B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9643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fr-FR">
                <a:solidFill>
                  <a:srgbClr val="FFFEFF"/>
                </a:solidFill>
              </a:rPr>
              <a:t>Variables Clés</a:t>
            </a:r>
          </a:p>
        </p:txBody>
      </p:sp>
      <p:graphicFrame>
        <p:nvGraphicFramePr>
          <p:cNvPr id="8" name="Espace réservé du contenu 5">
            <a:extLst>
              <a:ext uri="{FF2B5EF4-FFF2-40B4-BE49-F238E27FC236}">
                <a16:creationId xmlns:a16="http://schemas.microsoft.com/office/drawing/2014/main" id="{72CBE7B6-A771-20FA-C8B5-93519B0958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761658"/>
              </p:ext>
            </p:extLst>
          </p:nvPr>
        </p:nvGraphicFramePr>
        <p:xfrm>
          <a:off x="486033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BA9386-B534-E388-EB64-DEA9C9C8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AC10628-13DC-A683-5303-700815E5F4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11" name="Image 10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A6C7C9E2-1DC8-F4FC-7731-E7BF5335258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A019CD-FF99-4E60-8A53-263DB28A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867102-FE7A-4896-A4D0-6841A037E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2488"/>
            <a:ext cx="2790485" cy="958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ED4C73-C297-4140-86A8-94B6D53D8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3988" y="453644"/>
            <a:ext cx="2792012" cy="9466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22B009-13AC-4E5C-A238-C515BBD8D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7976" y="453643"/>
            <a:ext cx="5557491" cy="9855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E1DE5E-2FAA-4765-A621-D46138B0F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615271"/>
            <a:ext cx="11298934" cy="11887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Statistiques Descriptives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BF2718-58A5-40D2-9B53-37D9F4B3E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2790485" cy="198644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1E26378A-96AF-1A34-8A7A-A10DE26BB7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5" y="2337378"/>
            <a:ext cx="2118976" cy="166869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DAB854B-F3A7-4429-ACE6-4146EC318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3988" y="2180496"/>
            <a:ext cx="2792012" cy="198644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81D199F7-9748-21E7-AEF6-662F341A81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014" y="2337378"/>
            <a:ext cx="2309611" cy="166869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AF53B94-1B70-4DC5-B091-1B5CF6755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233907"/>
            <a:ext cx="2790485" cy="19875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3342C01-B588-B2FB-215A-85F0DB54B9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172" y="4406985"/>
            <a:ext cx="2473207" cy="1663231"/>
          </a:xfrm>
          <a:prstGeom prst="rect">
            <a:avLst/>
          </a:prstGeom>
          <a:noFill/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25CEE06-9780-44DF-89D3-F6BED116F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3988" y="4233907"/>
            <a:ext cx="2792012" cy="198870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EA1C0E51-6833-A57C-5D6E-261608A0F6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855" y="4524463"/>
            <a:ext cx="2473207" cy="142827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977" y="2180496"/>
            <a:ext cx="5557490" cy="4045683"/>
          </a:xfrm>
        </p:spPr>
        <p:txBody>
          <a:bodyPr>
            <a:normAutofit/>
          </a:bodyPr>
          <a:lstStyle/>
          <a:p>
            <a:r>
              <a:rPr lang="fr-FR" dirty="0"/>
              <a:t>Le bonheur montre une tendance centrale modérée,, indiquant une satisfaction de vie généralement moyenne.</a:t>
            </a:r>
          </a:p>
          <a:p>
            <a:r>
              <a:rPr lang="fr-FR" dirty="0"/>
              <a:t>Le soutien social est généralement élevé, avec une concentration autour de 0,9, soulignant son importance dans la perception du bien-être.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4D42466-823D-3AB6-DE83-530DC0B8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A1EE0A-353F-39A5-3097-1501CA40DD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10" name="Image 9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302A584A-1777-C52C-FFD9-4A3B23C7E54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560996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121" y="960723"/>
            <a:ext cx="4968489" cy="1013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Anomalie</a:t>
            </a:r>
            <a:r>
              <a:rPr lang="en-US" dirty="0">
                <a:solidFill>
                  <a:srgbClr val="FFFFFF"/>
                </a:solidFill>
              </a:rPr>
              <a:t> dans pour la variable Social support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60581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4318" y="457200"/>
            <a:ext cx="5600007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22925D20-1D7D-3DFB-5C8D-3DDED5BFE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87" y="2254102"/>
            <a:ext cx="4947221" cy="365034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/>
            <a:r>
              <a:rPr lang="en-US" dirty="0" err="1">
                <a:solidFill>
                  <a:srgbClr val="FFFFFF"/>
                </a:solidFill>
              </a:rPr>
              <a:t>Anomalie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2024 : Les données </a:t>
            </a:r>
            <a:r>
              <a:rPr lang="en-US" dirty="0" err="1">
                <a:solidFill>
                  <a:srgbClr val="FFFFFF"/>
                </a:solidFill>
              </a:rPr>
              <a:t>montrent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une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hausse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inhabituelle</a:t>
            </a:r>
            <a:r>
              <a:rPr lang="en-US" dirty="0">
                <a:solidFill>
                  <a:srgbClr val="FFFFFF"/>
                </a:solidFill>
              </a:rPr>
              <a:t> de la </a:t>
            </a:r>
            <a:r>
              <a:rPr lang="en-US" dirty="0" err="1">
                <a:solidFill>
                  <a:srgbClr val="FFFFFF"/>
                </a:solidFill>
              </a:rPr>
              <a:t>moyenne</a:t>
            </a:r>
            <a:r>
              <a:rPr lang="en-US" dirty="0">
                <a:solidFill>
                  <a:srgbClr val="FFFFFF"/>
                </a:solidFill>
              </a:rPr>
              <a:t> et de </a:t>
            </a:r>
            <a:r>
              <a:rPr lang="en-US" dirty="0" err="1">
                <a:solidFill>
                  <a:srgbClr val="FFFFFF"/>
                </a:solidFill>
              </a:rPr>
              <a:t>l'écart</a:t>
            </a:r>
            <a:r>
              <a:rPr lang="en-US" dirty="0">
                <a:solidFill>
                  <a:srgbClr val="FFFFFF"/>
                </a:solidFill>
              </a:rPr>
              <a:t>-type.</a:t>
            </a:r>
          </a:p>
          <a:p>
            <a:pPr marL="285750" indent="-285750"/>
            <a:r>
              <a:rPr lang="en-US" dirty="0">
                <a:solidFill>
                  <a:srgbClr val="FFFFFF"/>
                </a:solidFill>
              </a:rPr>
              <a:t>Le score de bonheur </a:t>
            </a:r>
            <a:r>
              <a:rPr lang="en-US" dirty="0" err="1">
                <a:solidFill>
                  <a:srgbClr val="FFFFFF"/>
                </a:solidFill>
              </a:rPr>
              <a:t>comporte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lui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aussi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une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anomalie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2005, </a:t>
            </a:r>
            <a:r>
              <a:rPr lang="en-US" dirty="0" err="1">
                <a:solidFill>
                  <a:srgbClr val="FFFFFF"/>
                </a:solidFill>
              </a:rPr>
              <a:t>mais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expliquée</a:t>
            </a:r>
            <a:r>
              <a:rPr lang="en-US" dirty="0">
                <a:solidFill>
                  <a:srgbClr val="FFFFFF"/>
                </a:solidFill>
              </a:rPr>
              <a:t> par le fait que le rapport ne </a:t>
            </a:r>
            <a:r>
              <a:rPr lang="en-US" dirty="0" err="1">
                <a:solidFill>
                  <a:srgbClr val="FFFFFF"/>
                </a:solidFill>
              </a:rPr>
              <a:t>comprenait</a:t>
            </a:r>
            <a:r>
              <a:rPr lang="en-US" dirty="0">
                <a:solidFill>
                  <a:srgbClr val="FFFFFF"/>
                </a:solidFill>
              </a:rPr>
              <a:t> que peu de pays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2005.</a:t>
            </a:r>
          </a:p>
          <a:p>
            <a:pPr marL="285750" indent="-285750"/>
            <a:r>
              <a:rPr lang="en-US" dirty="0">
                <a:solidFill>
                  <a:srgbClr val="FFFFFF"/>
                </a:solidFill>
              </a:rPr>
              <a:t>Le </a:t>
            </a:r>
            <a:r>
              <a:rPr lang="en-US" dirty="0" err="1">
                <a:solidFill>
                  <a:srgbClr val="FFFFFF"/>
                </a:solidFill>
              </a:rPr>
              <a:t>soutien</a:t>
            </a:r>
            <a:r>
              <a:rPr lang="en-US" dirty="0">
                <a:solidFill>
                  <a:srgbClr val="FFFFFF"/>
                </a:solidFill>
              </a:rPr>
              <a:t> social </a:t>
            </a:r>
            <a:r>
              <a:rPr lang="en-US" dirty="0" err="1">
                <a:solidFill>
                  <a:srgbClr val="FFFFFF"/>
                </a:solidFill>
              </a:rPr>
              <a:t>reste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relativement</a:t>
            </a:r>
            <a:r>
              <a:rPr lang="en-US" dirty="0">
                <a:solidFill>
                  <a:srgbClr val="FFFFFF"/>
                </a:solidFill>
              </a:rPr>
              <a:t> stable, avec </a:t>
            </a:r>
            <a:r>
              <a:rPr lang="en-US" dirty="0" err="1">
                <a:solidFill>
                  <a:srgbClr val="FFFFFF"/>
                </a:solidFill>
              </a:rPr>
              <a:t>une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légère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baisse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2022 et 2023.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1" name="Image 20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8E337123-0FFC-5846-75D2-C9A452409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84" y="1421608"/>
            <a:ext cx="4952475" cy="4023885"/>
          </a:xfrm>
          <a:prstGeom prst="rect">
            <a:avLst/>
          </a:prstGeom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A026FECB-F3DB-B381-5EF4-564D8EDB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4" name="Image 13" descr="Une image contenant logo, symbole, Police, Graphique&#10;&#10;Le contenu généré par l’IA peut être incorrect.">
            <a:extLst>
              <a:ext uri="{FF2B5EF4-FFF2-40B4-BE49-F238E27FC236}">
                <a16:creationId xmlns:a16="http://schemas.microsoft.com/office/drawing/2014/main" id="{97C456C7-350F-DFBB-DA2E-4D926337B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9" y="6427470"/>
            <a:ext cx="519872" cy="430529"/>
          </a:xfrm>
          <a:prstGeom prst="rect">
            <a:avLst/>
          </a:prstGeom>
        </p:spPr>
      </p:pic>
      <p:pic>
        <p:nvPicPr>
          <p:cNvPr id="16" name="Image 15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547C5AA2-5685-C458-85ED-2467608C7B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0" y="800729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fr-FR" dirty="0"/>
              <a:t>PARTIE I — Le soutien social comme facteur explicatif du bonheur</a:t>
            </a:r>
            <a:br>
              <a:rPr lang="fr-FR" dirty="0"/>
            </a:br>
            <a:r>
              <a:rPr lang="fr-FR" dirty="0"/>
              <a:t>A. Une relation polynômiale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48D04A-B18A-4669-86FA-1F7C104C4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fr-FR" dirty="0"/>
              <a:t>Le soutien social et le bonheur montrent une corrélation positive mais non linéaire.</a:t>
            </a:r>
          </a:p>
          <a:p>
            <a:r>
              <a:rPr lang="fr-FR" dirty="0"/>
              <a:t>Une régression polynomiale de degré 3 révèle une relation plus complexe entre ces variables.</a:t>
            </a:r>
          </a:p>
          <a:p>
            <a:r>
              <a:rPr lang="fr-FR" dirty="0"/>
              <a:t>Un effet de saturation est observé, indiquant des bénéfices décroissants du soutien social sur le bonheur à des niveaux élevés.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6AF36B-A639-B2B3-A167-5AECC791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Image 5" descr="Une image contenant texte, diagramme, Tracé&#10;&#10;Le contenu généré par l’IA peut être incorrect.">
            <a:extLst>
              <a:ext uri="{FF2B5EF4-FFF2-40B4-BE49-F238E27FC236}">
                <a16:creationId xmlns:a16="http://schemas.microsoft.com/office/drawing/2014/main" id="{034671A7-B4A2-7A32-0242-661203EC7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45" y="2263891"/>
            <a:ext cx="4404448" cy="37933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DBA11F0-C253-9B68-D6EB-43E7DC49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8" name="Image 7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6B96A4CC-7409-E0BF-D8D3-F8912F78E6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B. Comparaison pour concrétiser la relation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C2BADAE4-C8DC-88AE-F868-581D531826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42" y="2593173"/>
            <a:ext cx="5173219" cy="322032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fr-FR" dirty="0"/>
              <a:t>Les pays avec les scores de bonheur les plus élevés, comme les Pays-Bas, l'Islande et la Suède, montrent également des niveaux élevés de soutien social.</a:t>
            </a:r>
          </a:p>
          <a:p>
            <a:r>
              <a:rPr lang="fr-FR" dirty="0"/>
              <a:t>À l'inverse, les pays avec les scores de bonheur les plus bas, comme l'Afghanistan, le Soudan du Sud et la République centrafricaine, ont des niveaux de soutien social faibles.</a:t>
            </a:r>
          </a:p>
          <a:p>
            <a:r>
              <a:rPr lang="fr-FR" dirty="0"/>
              <a:t>Cela souligne l'importance du soutien social comme facteur protecteur dans les sociétés favorisées.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116153-71BE-68AC-374C-07B22B8B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F5F6B85-C94B-C12D-A972-D8A604F62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7" name="Image 6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294DA974-33D8-F095-58BF-CE23CDEC6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68919"/>
            <a:ext cx="11029616" cy="1013800"/>
          </a:xfrm>
        </p:spPr>
        <p:txBody>
          <a:bodyPr>
            <a:noAutofit/>
          </a:bodyPr>
          <a:lstStyle/>
          <a:p>
            <a:r>
              <a:rPr lang="fr-FR" sz="2400" dirty="0">
                <a:solidFill>
                  <a:srgbClr val="FFFFFF"/>
                </a:solidFill>
              </a:rPr>
              <a:t>PARTIE II — Analyse géographique : le soutien social à travers le monde</a:t>
            </a:r>
            <a:br>
              <a:rPr lang="fr-FR" sz="2400" dirty="0">
                <a:solidFill>
                  <a:srgbClr val="FFFFFF"/>
                </a:solidFill>
              </a:rPr>
            </a:br>
            <a:r>
              <a:rPr lang="fr-FR" sz="2400" dirty="0">
                <a:solidFill>
                  <a:srgbClr val="FFFFFF"/>
                </a:solidFill>
              </a:rPr>
              <a:t>A. NIVEAU DE SOUTIEN SOCIAL PAR PAYS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rte, atlas&#10;&#10;Le contenu généré par l’IA peut être incorrect.">
            <a:extLst>
              <a:ext uri="{FF2B5EF4-FFF2-40B4-BE49-F238E27FC236}">
                <a16:creationId xmlns:a16="http://schemas.microsoft.com/office/drawing/2014/main" id="{327DB4BB-5B18-C51D-3128-63124746A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2976050"/>
            <a:ext cx="4962525" cy="24192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fr-FR" dirty="0"/>
              <a:t>Les pays nordiques, le Canada et le Costa Rica montrent des niveaux élevés de soutien social.</a:t>
            </a:r>
          </a:p>
          <a:p>
            <a:r>
              <a:rPr lang="fr-FR" dirty="0"/>
              <a:t>L'Afrique et certaines parties de l'Asie du Sud affichent des niveaux de soutien social plus faibles.</a:t>
            </a:r>
          </a:p>
          <a:p>
            <a:r>
              <a:rPr lang="fr-FR" dirty="0"/>
              <a:t>Globalement, les pays développés ont un soutien social plus fort.</a:t>
            </a:r>
          </a:p>
          <a:p>
            <a:r>
              <a:rPr lang="fr-FR" dirty="0"/>
              <a:t>Le contexte local joue un rôle décisif dans les niveaux de soutien social observés.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7DD34F-3973-C157-AF16-F2B816DF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A7A8FC1-9624-FC36-589C-6C41D545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8" name="Image 7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9EE96096-6E7A-2401-B8F8-8C588AC9E7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B. CONTRIBUTION RELATIVE DU SOUTIEN SOCIAL AU BONHEUR</a:t>
            </a:r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rte&#10;&#10;Le contenu généré par l’IA peut être incorrect.">
            <a:extLst>
              <a:ext uri="{FF2B5EF4-FFF2-40B4-BE49-F238E27FC236}">
                <a16:creationId xmlns:a16="http://schemas.microsoft.com/office/drawing/2014/main" id="{0825CBAD-DAA7-CF55-8566-AA632B3B6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32" y="3049966"/>
            <a:ext cx="5220409" cy="231002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fr-FR" dirty="0"/>
              <a:t>Le ratio soutien social/bonheur met en évidence l'importance relative du soutien social dans la perception du bien-être.</a:t>
            </a:r>
          </a:p>
          <a:p>
            <a:r>
              <a:rPr lang="fr-FR" dirty="0"/>
              <a:t>Cette importance est plus marquée dans les pays en développement, où le soutien social joue un rôle crucial en raison de ressources limitées.</a:t>
            </a:r>
          </a:p>
          <a:p>
            <a:r>
              <a:rPr lang="fr-FR" dirty="0"/>
              <a:t>Dans les pays riches, bien que le soutien social reste important, il est souvent complété par d'autres facteurs comme le revenu, la santé et la liberté pour expliquer le bonheur.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EBE80E-9215-2D2E-D6B5-978B3D66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49B2F14-76FE-DEF8-8EDA-AC60D17F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7" name="Image 6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188B456E-B435-36D3-BEBC-2BE072FC88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fr-FR" dirty="0"/>
              <a:t>PARTIE III - Évolution temporelle du soutien social selon les Pays </a:t>
            </a:r>
            <a:br>
              <a:rPr lang="fr-FR" dirty="0"/>
            </a:br>
            <a:r>
              <a:rPr lang="fr-FR" dirty="0"/>
              <a:t>a. </a:t>
            </a:r>
            <a:r>
              <a:rPr lang="fr-FR" dirty="0">
                <a:solidFill>
                  <a:srgbClr val="FFFFFF"/>
                </a:solidFill>
              </a:rPr>
              <a:t>La Crise économique(2009)</a:t>
            </a:r>
            <a:endParaRPr lang="fr-FR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fr-FR" dirty="0"/>
              <a:t>En 2009, le soutien social montre une stabilité globale malgré la crise financière.</a:t>
            </a:r>
          </a:p>
          <a:p>
            <a:r>
              <a:rPr lang="fr-FR" dirty="0"/>
              <a:t>Une résilience est observée face à la crise, avec des niveaux de soutien social relativement stables.</a:t>
            </a:r>
          </a:p>
          <a:p>
            <a:r>
              <a:rPr lang="fr-FR" dirty="0"/>
              <a:t>Cependant, des disparités régionales persistent, reflétant des différences structurelles et socio-économiques entre les pays.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468418-0E43-A35E-A1EF-D0742338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D845B0D-532D-2362-BBE3-8B8C777A2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8" name="Image 7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B84ECD67-C07C-9CF3-3039-D7F62ADDC1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18DDA95-6094-AC27-F5D6-B097B46F3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77" y="3161268"/>
            <a:ext cx="5205949" cy="2450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E1011-D491-A884-02E6-C0D1B5C1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C91C0-B6FC-5F77-2D5D-79BB1ACC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rgbClr val="FFFFFF"/>
                </a:solidFill>
              </a:rPr>
              <a:t>B. LE covid-19 (2021)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CE477-68AA-0ACB-9C26-DC08977DC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r>
              <a:rPr lang="fr-FR" sz="1600" dirty="0">
                <a:solidFill>
                  <a:srgbClr val="FFFFFF"/>
                </a:solidFill>
              </a:rPr>
              <a:t>Année 2021 : Stabilité globale du soutien social malgré la pandémie de COVID-19.</a:t>
            </a:r>
          </a:p>
          <a:p>
            <a:r>
              <a:rPr lang="fr-FR" sz="1600" dirty="0">
                <a:solidFill>
                  <a:srgbClr val="FFFFFF"/>
                </a:solidFill>
              </a:rPr>
              <a:t>Hausse locale : Légère amélioration en Europe de l’Ouest grâce aux solidarités accrues.</a:t>
            </a:r>
          </a:p>
          <a:p>
            <a:r>
              <a:rPr lang="fr-FR" sz="1600" dirty="0">
                <a:solidFill>
                  <a:srgbClr val="FFFFFF"/>
                </a:solidFill>
              </a:rPr>
              <a:t>Baisse globale : Diminution du soutien social partout sauf en Asie du Sud et Afrique du Sud.</a:t>
            </a:r>
          </a:p>
        </p:txBody>
      </p:sp>
      <p:pic>
        <p:nvPicPr>
          <p:cNvPr id="26" name="Image 25" descr="Une image contenant texte, carte&#10;&#10;Le contenu généré par l’IA peut être incorrect.">
            <a:extLst>
              <a:ext uri="{FF2B5EF4-FFF2-40B4-BE49-F238E27FC236}">
                <a16:creationId xmlns:a16="http://schemas.microsoft.com/office/drawing/2014/main" id="{1AEBA4DC-13EF-AFCA-485A-FF23121F0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1746069"/>
            <a:ext cx="7304012" cy="3578966"/>
          </a:xfrm>
          <a:prstGeom prst="rect">
            <a:avLst/>
          </a:prstGeom>
        </p:spPr>
      </p:pic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B16AA735-B328-B93C-B519-4D243261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121966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pic>
        <p:nvPicPr>
          <p:cNvPr id="23" name="Image 22" descr="Une image contenant logo, symbole, Police, Graphique&#10;&#10;Le contenu généré par l’IA peut être incorrect.">
            <a:extLst>
              <a:ext uri="{FF2B5EF4-FFF2-40B4-BE49-F238E27FC236}">
                <a16:creationId xmlns:a16="http://schemas.microsoft.com/office/drawing/2014/main" id="{17190345-920F-46BB-9CD6-1F7D30CFD4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24" name="Image 23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3D7C154B-6C2A-9D69-0525-AC22A0C604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8737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 dirty="0"/>
              <a:t>PARTIE IV — Poids comparé avec d'autres variables explicatives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pture d’écran, diagramme, carré&#10;&#10;Le contenu généré par l’IA peut être incorrect.">
            <a:extLst>
              <a:ext uri="{FF2B5EF4-FFF2-40B4-BE49-F238E27FC236}">
                <a16:creationId xmlns:a16="http://schemas.microsoft.com/office/drawing/2014/main" id="{751740FA-199A-B008-A5EA-708A24083D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2442578"/>
            <a:ext cx="4962525" cy="348617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fr-FR" dirty="0"/>
              <a:t>Corrélations : Le soutien social, le PIB et l’espérance de vie montrent les plus fortes corrélations avec le bonheur.</a:t>
            </a:r>
          </a:p>
          <a:p>
            <a:r>
              <a:rPr lang="fr-FR" dirty="0"/>
              <a:t>Régression multiple : Le soutien social est la variable la plus influente, devant le PIB et la santé.</a:t>
            </a:r>
          </a:p>
          <a:p>
            <a:r>
              <a:rPr lang="fr-FR" dirty="0"/>
              <a:t>Comparaison des effets : La générosité et la corruption ont un impact moindre par rapport aux autres facteurs.</a:t>
            </a:r>
            <a:endParaRPr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DA4C7FE-4796-9CA8-1BB9-69318BE3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E596A4E-2BE6-D9E1-6F4E-4D6770065F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11" name="Image 10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BBEF1334-27EF-BDCB-CD00-F8987E5AD4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E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2E83AE-407F-1366-23EE-BE3ADCFEF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243180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02F1FA-073D-AB24-D97A-AF5CC2CB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84BE594-CB5F-E4C7-DA46-C9C8621CC2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675" t="18280" r="25387" b="21245"/>
          <a:stretch/>
        </p:blipFill>
        <p:spPr>
          <a:xfrm>
            <a:off x="64328" y="6391588"/>
            <a:ext cx="563201" cy="466412"/>
          </a:xfrm>
          <a:prstGeom prst="rect">
            <a:avLst/>
          </a:prstGeom>
        </p:spPr>
      </p:pic>
      <p:pic>
        <p:nvPicPr>
          <p:cNvPr id="8" name="Image 7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2F09406E-9B01-84AC-A245-D0C2A3126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fr-FR" sz="5000">
                <a:solidFill>
                  <a:srgbClr val="FFFFFF"/>
                </a:solidFill>
              </a:rPr>
              <a:t>Sources / Bibliographie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3712FDC-3C00-40F5-073D-FE1DC1ADEC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55769" y="1033390"/>
          <a:ext cx="4855037" cy="4825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D9C20C-63EE-99CD-FB18-D11E837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CA51FE5-A027-59B9-0106-260D6FF9A6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675" t="18280" r="25387" b="21245"/>
          <a:stretch/>
        </p:blipFill>
        <p:spPr>
          <a:xfrm>
            <a:off x="0" y="6391588"/>
            <a:ext cx="563201" cy="466412"/>
          </a:xfrm>
          <a:prstGeom prst="rect">
            <a:avLst/>
          </a:prstGeom>
        </p:spPr>
      </p:pic>
      <p:pic>
        <p:nvPicPr>
          <p:cNvPr id="7" name="Image 6" descr="World Happiness Report 2022: 10th edition sees increased focus on happiness">
            <a:extLst>
              <a:ext uri="{FF2B5EF4-FFF2-40B4-BE49-F238E27FC236}">
                <a16:creationId xmlns:a16="http://schemas.microsoft.com/office/drawing/2014/main" id="{8F1CE4BE-4B40-6CE0-F169-5A48D5333A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404" y="6570515"/>
            <a:ext cx="563201" cy="19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841</TotalTime>
  <Words>1073</Words>
  <Application>Microsoft Office PowerPoint</Application>
  <PresentationFormat>Grand écran</PresentationFormat>
  <Paragraphs>94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Aptos</vt:lpstr>
      <vt:lpstr>Arial</vt:lpstr>
      <vt:lpstr>Gill Sans MT</vt:lpstr>
      <vt:lpstr>Wingdings 2</vt:lpstr>
      <vt:lpstr>Dividende</vt:lpstr>
      <vt:lpstr>Le Bonheur dans le Monde</vt:lpstr>
      <vt:lpstr>Introduction</vt:lpstr>
      <vt:lpstr>Problématique et attentes du projet</vt:lpstr>
      <vt:lpstr>Variables Clés</vt:lpstr>
      <vt:lpstr>Statistiques Descriptives</vt:lpstr>
      <vt:lpstr>Anomalie dans pour la variable Social support</vt:lpstr>
      <vt:lpstr>PARTIE I — Le soutien social comme facteur explicatif du bonheur A. Une relation polynômiale</vt:lpstr>
      <vt:lpstr>B. Comparaison pour concrétiser la relation</vt:lpstr>
      <vt:lpstr>PARTIE II — Analyse géographique : le soutien social à travers le monde A. NIVEAU DE SOUTIEN SOCIAL PAR PAYS</vt:lpstr>
      <vt:lpstr>B. CONTRIBUTION RELATIVE DU SOUTIEN SOCIAL AU BONHEUR</vt:lpstr>
      <vt:lpstr>PARTIE III - Évolution temporelle du soutien social selon les Pays  a. La Crise économique(2009)</vt:lpstr>
      <vt:lpstr>B. LE covid-19 (2021)</vt:lpstr>
      <vt:lpstr>PARTIE IV — Poids comparé avec d'autres variables explicatives</vt:lpstr>
      <vt:lpstr>Conclusion</vt:lpstr>
      <vt:lpstr>Sources / Bibliographie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fabien thibout</dc:creator>
  <cp:keywords/>
  <dc:description>generated using python-pptx</dc:description>
  <cp:lastModifiedBy>fabien thibout</cp:lastModifiedBy>
  <cp:revision>24</cp:revision>
  <dcterms:created xsi:type="dcterms:W3CDTF">2013-01-27T09:14:16Z</dcterms:created>
  <dcterms:modified xsi:type="dcterms:W3CDTF">2025-06-11T09:37:01Z</dcterms:modified>
  <cp:category/>
</cp:coreProperties>
</file>